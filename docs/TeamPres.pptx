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6"/>
  </p:notesMasterIdLst>
  <p:sldIdLst>
    <p:sldId id="256" r:id="rId2"/>
    <p:sldId id="261" r:id="rId3"/>
    <p:sldId id="262" r:id="rId4"/>
    <p:sldId id="268" r:id="rId5"/>
  </p:sldIdLst>
  <p:sldSz cx="36576000" cy="2743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EC7E4FE-5E00-3446-A41E-FFC825C0D83B}">
          <p14:sldIdLst>
            <p14:sldId id="256"/>
            <p14:sldId id="261"/>
            <p14:sldId id="262"/>
          </p14:sldIdLst>
        </p14:section>
        <p14:section name="Slide Deck" id="{75369275-51FF-DA43-83DE-F37ED838117E}">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84"/>
  </p:normalViewPr>
  <p:slideViewPr>
    <p:cSldViewPr snapToGrid="0">
      <p:cViewPr>
        <p:scale>
          <a:sx n="25" d="100"/>
          <a:sy n="25" d="100"/>
        </p:scale>
        <p:origin x="448"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25761B-2D5F-5A42-86DD-6F3B870C1BE5}" type="datetimeFigureOut">
              <a:rPr lang="en-US" smtClean="0"/>
              <a:t>4/14/26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0BAC6A-A34A-F048-B1F3-2CBF48CCC43F}" type="slidenum">
              <a:rPr lang="en-US" smtClean="0"/>
              <a:t>‹#›</a:t>
            </a:fld>
            <a:endParaRPr lang="en-US"/>
          </a:p>
        </p:txBody>
      </p:sp>
    </p:spTree>
    <p:extLst>
      <p:ext uri="{BB962C8B-B14F-4D97-AF65-F5344CB8AC3E}">
        <p14:creationId xmlns:p14="http://schemas.microsoft.com/office/powerpoint/2010/main" val="3103566983"/>
      </p:ext>
    </p:extLst>
  </p:cSld>
  <p:clrMap bg1="lt1" tx1="dk1" bg2="lt2" tx2="dk2" accent1="accent1" accent2="accent2" accent3="accent3" accent4="accent4" accent5="accent5" accent6="accent6" hlink="hlink" folHlink="folHlink"/>
  <p:notesStyle>
    <a:lvl1pPr marL="0" algn="l" defTabSz="3072376" rtl="0" eaLnBrk="1" latinLnBrk="0" hangingPunct="1">
      <a:defRPr sz="4032" kern="1200">
        <a:solidFill>
          <a:schemeClr val="tx1"/>
        </a:solidFill>
        <a:latin typeface="+mn-lt"/>
        <a:ea typeface="+mn-ea"/>
        <a:cs typeface="+mn-cs"/>
      </a:defRPr>
    </a:lvl1pPr>
    <a:lvl2pPr marL="1536188" algn="l" defTabSz="3072376" rtl="0" eaLnBrk="1" latinLnBrk="0" hangingPunct="1">
      <a:defRPr sz="4032" kern="1200">
        <a:solidFill>
          <a:schemeClr val="tx1"/>
        </a:solidFill>
        <a:latin typeface="+mn-lt"/>
        <a:ea typeface="+mn-ea"/>
        <a:cs typeface="+mn-cs"/>
      </a:defRPr>
    </a:lvl2pPr>
    <a:lvl3pPr marL="3072376" algn="l" defTabSz="3072376" rtl="0" eaLnBrk="1" latinLnBrk="0" hangingPunct="1">
      <a:defRPr sz="4032" kern="1200">
        <a:solidFill>
          <a:schemeClr val="tx1"/>
        </a:solidFill>
        <a:latin typeface="+mn-lt"/>
        <a:ea typeface="+mn-ea"/>
        <a:cs typeface="+mn-cs"/>
      </a:defRPr>
    </a:lvl3pPr>
    <a:lvl4pPr marL="4608562" algn="l" defTabSz="3072376" rtl="0" eaLnBrk="1" latinLnBrk="0" hangingPunct="1">
      <a:defRPr sz="4032" kern="1200">
        <a:solidFill>
          <a:schemeClr val="tx1"/>
        </a:solidFill>
        <a:latin typeface="+mn-lt"/>
        <a:ea typeface="+mn-ea"/>
        <a:cs typeface="+mn-cs"/>
      </a:defRPr>
    </a:lvl4pPr>
    <a:lvl5pPr marL="6144750" algn="l" defTabSz="3072376" rtl="0" eaLnBrk="1" latinLnBrk="0" hangingPunct="1">
      <a:defRPr sz="4032" kern="1200">
        <a:solidFill>
          <a:schemeClr val="tx1"/>
        </a:solidFill>
        <a:latin typeface="+mn-lt"/>
        <a:ea typeface="+mn-ea"/>
        <a:cs typeface="+mn-cs"/>
      </a:defRPr>
    </a:lvl5pPr>
    <a:lvl6pPr marL="7680938" algn="l" defTabSz="3072376" rtl="0" eaLnBrk="1" latinLnBrk="0" hangingPunct="1">
      <a:defRPr sz="4032" kern="1200">
        <a:solidFill>
          <a:schemeClr val="tx1"/>
        </a:solidFill>
        <a:latin typeface="+mn-lt"/>
        <a:ea typeface="+mn-ea"/>
        <a:cs typeface="+mn-cs"/>
      </a:defRPr>
    </a:lvl6pPr>
    <a:lvl7pPr marL="9217126" algn="l" defTabSz="3072376" rtl="0" eaLnBrk="1" latinLnBrk="0" hangingPunct="1">
      <a:defRPr sz="4032" kern="1200">
        <a:solidFill>
          <a:schemeClr val="tx1"/>
        </a:solidFill>
        <a:latin typeface="+mn-lt"/>
        <a:ea typeface="+mn-ea"/>
        <a:cs typeface="+mn-cs"/>
      </a:defRPr>
    </a:lvl7pPr>
    <a:lvl8pPr marL="10753314" algn="l" defTabSz="3072376" rtl="0" eaLnBrk="1" latinLnBrk="0" hangingPunct="1">
      <a:defRPr sz="4032" kern="1200">
        <a:solidFill>
          <a:schemeClr val="tx1"/>
        </a:solidFill>
        <a:latin typeface="+mn-lt"/>
        <a:ea typeface="+mn-ea"/>
        <a:cs typeface="+mn-cs"/>
      </a:defRPr>
    </a:lvl8pPr>
    <a:lvl9pPr marL="12289500" algn="l" defTabSz="3072376" rtl="0" eaLnBrk="1" latinLnBrk="0" hangingPunct="1">
      <a:defRPr sz="403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0BAC6A-A34A-F048-B1F3-2CBF48CCC43F}" type="slidenum">
              <a:rPr lang="en-US" smtClean="0"/>
              <a:t>1</a:t>
            </a:fld>
            <a:endParaRPr lang="en-US"/>
          </a:p>
        </p:txBody>
      </p:sp>
    </p:spTree>
    <p:extLst>
      <p:ext uri="{BB962C8B-B14F-4D97-AF65-F5344CB8AC3E}">
        <p14:creationId xmlns:p14="http://schemas.microsoft.com/office/powerpoint/2010/main" val="1389767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4489452"/>
            <a:ext cx="31089600" cy="9550400"/>
          </a:xfrm>
        </p:spPr>
        <p:txBody>
          <a:bodyPr anchor="b"/>
          <a:lstStyle>
            <a:lvl1pPr algn="ctr">
              <a:defRPr sz="24000"/>
            </a:lvl1pPr>
          </a:lstStyle>
          <a:p>
            <a:r>
              <a:rPr lang="en-US"/>
              <a:t>Click to edit Master title style</a:t>
            </a:r>
            <a:endParaRPr lang="en-US" dirty="0"/>
          </a:p>
        </p:txBody>
      </p:sp>
      <p:sp>
        <p:nvSpPr>
          <p:cNvPr id="3" name="Subtitle 2"/>
          <p:cNvSpPr>
            <a:spLocks noGrp="1"/>
          </p:cNvSpPr>
          <p:nvPr>
            <p:ph type="subTitle" idx="1"/>
          </p:nvPr>
        </p:nvSpPr>
        <p:spPr>
          <a:xfrm>
            <a:off x="4572000" y="14408152"/>
            <a:ext cx="27432000" cy="6623048"/>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559C55-D5F7-5B47-B34B-12201C3CA86B}"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293103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559C55-D5F7-5B47-B34B-12201C3CA86B}"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1739741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6838958"/>
            <a:ext cx="31546800" cy="11410948"/>
          </a:xfrm>
        </p:spPr>
        <p:txBody>
          <a:bodyPr anchor="b"/>
          <a:lstStyle>
            <a:lvl1pPr>
              <a:defRPr sz="24000"/>
            </a:lvl1pPr>
          </a:lstStyle>
          <a:p>
            <a:r>
              <a:rPr lang="en-US"/>
              <a:t>Click to edit Master title style</a:t>
            </a:r>
            <a:endParaRPr lang="en-US" dirty="0"/>
          </a:p>
        </p:txBody>
      </p:sp>
      <p:sp>
        <p:nvSpPr>
          <p:cNvPr id="3" name="Text Placeholder 2"/>
          <p:cNvSpPr>
            <a:spLocks noGrp="1"/>
          </p:cNvSpPr>
          <p:nvPr>
            <p:ph type="body" idx="1"/>
          </p:nvPr>
        </p:nvSpPr>
        <p:spPr>
          <a:xfrm>
            <a:off x="2495552" y="18357858"/>
            <a:ext cx="31546800" cy="6000748"/>
          </a:xfrm>
        </p:spPr>
        <p:txBody>
          <a:bodyPr/>
          <a:lstStyle>
            <a:lvl1pPr marL="0" indent="0">
              <a:buNone/>
              <a:defRPr sz="9600">
                <a:solidFill>
                  <a:schemeClr val="tx1">
                    <a:tint val="82000"/>
                  </a:schemeClr>
                </a:solidFill>
              </a:defRPr>
            </a:lvl1pPr>
            <a:lvl2pPr marL="1828800" indent="0">
              <a:buNone/>
              <a:defRPr sz="8000">
                <a:solidFill>
                  <a:schemeClr val="tx1">
                    <a:tint val="82000"/>
                  </a:schemeClr>
                </a:solidFill>
              </a:defRPr>
            </a:lvl2pPr>
            <a:lvl3pPr marL="3657600" indent="0">
              <a:buNone/>
              <a:defRPr sz="7200">
                <a:solidFill>
                  <a:schemeClr val="tx1">
                    <a:tint val="82000"/>
                  </a:schemeClr>
                </a:solidFill>
              </a:defRPr>
            </a:lvl3pPr>
            <a:lvl4pPr marL="5486400" indent="0">
              <a:buNone/>
              <a:defRPr sz="6400">
                <a:solidFill>
                  <a:schemeClr val="tx1">
                    <a:tint val="82000"/>
                  </a:schemeClr>
                </a:solidFill>
              </a:defRPr>
            </a:lvl4pPr>
            <a:lvl5pPr marL="7315200" indent="0">
              <a:buNone/>
              <a:defRPr sz="6400">
                <a:solidFill>
                  <a:schemeClr val="tx1">
                    <a:tint val="82000"/>
                  </a:schemeClr>
                </a:solidFill>
              </a:defRPr>
            </a:lvl5pPr>
            <a:lvl6pPr marL="9144000" indent="0">
              <a:buNone/>
              <a:defRPr sz="6400">
                <a:solidFill>
                  <a:schemeClr val="tx1">
                    <a:tint val="82000"/>
                  </a:schemeClr>
                </a:solidFill>
              </a:defRPr>
            </a:lvl6pPr>
            <a:lvl7pPr marL="10972800" indent="0">
              <a:buNone/>
              <a:defRPr sz="6400">
                <a:solidFill>
                  <a:schemeClr val="tx1">
                    <a:tint val="82000"/>
                  </a:schemeClr>
                </a:solidFill>
              </a:defRPr>
            </a:lvl7pPr>
            <a:lvl8pPr marL="12801600" indent="0">
              <a:buNone/>
              <a:defRPr sz="6400">
                <a:solidFill>
                  <a:schemeClr val="tx1">
                    <a:tint val="82000"/>
                  </a:schemeClr>
                </a:solidFill>
              </a:defRPr>
            </a:lvl8pPr>
            <a:lvl9pPr marL="14630400" indent="0">
              <a:buNone/>
              <a:defRPr sz="64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559C55-D5F7-5B47-B34B-12201C3CA86B}"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141412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559C55-D5F7-5B47-B34B-12201C3CA86B}"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3721272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460506"/>
            <a:ext cx="31546800" cy="530225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19368" y="6724652"/>
            <a:ext cx="15473360"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4" name="Content Placeholder 3"/>
          <p:cNvSpPr>
            <a:spLocks noGrp="1"/>
          </p:cNvSpPr>
          <p:nvPr>
            <p:ph sz="half" idx="2"/>
          </p:nvPr>
        </p:nvSpPr>
        <p:spPr>
          <a:xfrm>
            <a:off x="2519368" y="10020300"/>
            <a:ext cx="15473360"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2" y="6724652"/>
            <a:ext cx="15549564"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6" name="Content Placeholder 5"/>
          <p:cNvSpPr>
            <a:spLocks noGrp="1"/>
          </p:cNvSpPr>
          <p:nvPr>
            <p:ph sz="quarter" idx="4"/>
          </p:nvPr>
        </p:nvSpPr>
        <p:spPr>
          <a:xfrm>
            <a:off x="18516602" y="10020300"/>
            <a:ext cx="15549564"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559C55-D5F7-5B47-B34B-12201C3CA86B}" type="datetimeFigureOut">
              <a:rPr lang="en-US" smtClean="0"/>
              <a:t>4/14/26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2618158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559C55-D5F7-5B47-B34B-12201C3CA86B}" type="datetimeFigureOut">
              <a:rPr lang="en-US" smtClean="0"/>
              <a:t>4/14/26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53361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559C55-D5F7-5B47-B34B-12201C3CA86B}" type="datetimeFigureOut">
              <a:rPr lang="en-US" smtClean="0"/>
              <a:t>4/14/26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2953969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endParaRPr lang="en-US" dirty="0"/>
          </a:p>
        </p:txBody>
      </p:sp>
      <p:sp>
        <p:nvSpPr>
          <p:cNvPr id="3" name="Content Placeholder 2"/>
          <p:cNvSpPr>
            <a:spLocks noGrp="1"/>
          </p:cNvSpPr>
          <p:nvPr>
            <p:ph idx="1"/>
          </p:nvPr>
        </p:nvSpPr>
        <p:spPr>
          <a:xfrm>
            <a:off x="15549564" y="3949706"/>
            <a:ext cx="18516600" cy="19494500"/>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9F559C55-D5F7-5B47-B34B-12201C3CA86B}"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3288444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3949706"/>
            <a:ext cx="18516600" cy="19494500"/>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a:t>Click icon to add picture</a:t>
            </a:r>
            <a:endParaRPr lang="en-US" dirty="0"/>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9F559C55-D5F7-5B47-B34B-12201C3CA86B}"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3748452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559C55-D5F7-5B47-B34B-12201C3CA86B}"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4037007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1460500"/>
            <a:ext cx="7886700" cy="2324735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2" y="1460500"/>
            <a:ext cx="23202900" cy="232473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559C55-D5F7-5B47-B34B-12201C3CA86B}"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D00E96-FF37-0845-9905-F2D412B3D1D6}" type="slidenum">
              <a:rPr lang="en-US" smtClean="0"/>
              <a:t>‹#›</a:t>
            </a:fld>
            <a:endParaRPr lang="en-US"/>
          </a:p>
        </p:txBody>
      </p:sp>
    </p:spTree>
    <p:extLst>
      <p:ext uri="{BB962C8B-B14F-4D97-AF65-F5344CB8AC3E}">
        <p14:creationId xmlns:p14="http://schemas.microsoft.com/office/powerpoint/2010/main" val="4051675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460506"/>
            <a:ext cx="31546800" cy="530225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14600" y="7302500"/>
            <a:ext cx="31546800" cy="17405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14600" y="25425406"/>
            <a:ext cx="8229600" cy="1460500"/>
          </a:xfrm>
          <a:prstGeom prst="rect">
            <a:avLst/>
          </a:prstGeom>
        </p:spPr>
        <p:txBody>
          <a:bodyPr vert="horz" lIns="91440" tIns="45720" rIns="91440" bIns="45720" rtlCol="0" anchor="ctr"/>
          <a:lstStyle>
            <a:lvl1pPr algn="l">
              <a:defRPr sz="4800">
                <a:solidFill>
                  <a:schemeClr val="tx1">
                    <a:tint val="82000"/>
                  </a:schemeClr>
                </a:solidFill>
              </a:defRPr>
            </a:lvl1pPr>
          </a:lstStyle>
          <a:p>
            <a:fld id="{9F559C55-D5F7-5B47-B34B-12201C3CA86B}" type="datetimeFigureOut">
              <a:rPr lang="en-US" smtClean="0"/>
              <a:t>4/14/26</a:t>
            </a:fld>
            <a:endParaRPr lang="en-US"/>
          </a:p>
        </p:txBody>
      </p:sp>
      <p:sp>
        <p:nvSpPr>
          <p:cNvPr id="5" name="Footer Placeholder 4"/>
          <p:cNvSpPr>
            <a:spLocks noGrp="1"/>
          </p:cNvSpPr>
          <p:nvPr>
            <p:ph type="ftr" sz="quarter" idx="3"/>
          </p:nvPr>
        </p:nvSpPr>
        <p:spPr>
          <a:xfrm>
            <a:off x="12115800" y="25425406"/>
            <a:ext cx="12344400" cy="1460500"/>
          </a:xfrm>
          <a:prstGeom prst="rect">
            <a:avLst/>
          </a:prstGeom>
        </p:spPr>
        <p:txBody>
          <a:bodyPr vert="horz" lIns="91440" tIns="45720" rIns="91440" bIns="45720" rtlCol="0" anchor="ctr"/>
          <a:lstStyle>
            <a:lvl1pPr algn="ctr">
              <a:defRPr sz="48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5831800" y="25425406"/>
            <a:ext cx="8229600" cy="1460500"/>
          </a:xfrm>
          <a:prstGeom prst="rect">
            <a:avLst/>
          </a:prstGeom>
        </p:spPr>
        <p:txBody>
          <a:bodyPr vert="horz" lIns="91440" tIns="45720" rIns="91440" bIns="45720" rtlCol="0" anchor="ctr"/>
          <a:lstStyle>
            <a:lvl1pPr algn="r">
              <a:defRPr sz="4800">
                <a:solidFill>
                  <a:schemeClr val="tx1">
                    <a:tint val="82000"/>
                  </a:schemeClr>
                </a:solidFill>
              </a:defRPr>
            </a:lvl1pPr>
          </a:lstStyle>
          <a:p>
            <a:fld id="{76D00E96-FF37-0845-9905-F2D412B3D1D6}" type="slidenum">
              <a:rPr lang="en-US" smtClean="0"/>
              <a:t>‹#›</a:t>
            </a:fld>
            <a:endParaRPr lang="en-US"/>
          </a:p>
        </p:txBody>
      </p:sp>
    </p:spTree>
    <p:extLst>
      <p:ext uri="{BB962C8B-B14F-4D97-AF65-F5344CB8AC3E}">
        <p14:creationId xmlns:p14="http://schemas.microsoft.com/office/powerpoint/2010/main" val="8294575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1025">
            <a:extLst>
              <a:ext uri="{FF2B5EF4-FFF2-40B4-BE49-F238E27FC236}">
                <a16:creationId xmlns:a16="http://schemas.microsoft.com/office/drawing/2014/main" id="{2F1C248B-803F-24C8-6061-A1404F003A1B}"/>
              </a:ext>
            </a:extLst>
          </p:cNvPr>
          <p:cNvSpPr/>
          <p:nvPr/>
        </p:nvSpPr>
        <p:spPr>
          <a:xfrm>
            <a:off x="3585929" y="9443703"/>
            <a:ext cx="7125555" cy="3951658"/>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51" name="Elbow Connector 50">
            <a:extLst>
              <a:ext uri="{FF2B5EF4-FFF2-40B4-BE49-F238E27FC236}">
                <a16:creationId xmlns:a16="http://schemas.microsoft.com/office/drawing/2014/main" id="{060BC4F6-09C1-FB25-01B0-FF0F442B44AF}"/>
              </a:ext>
            </a:extLst>
          </p:cNvPr>
          <p:cNvCxnSpPr>
            <a:cxnSpLocks/>
            <a:stCxn id="62" idx="0"/>
            <a:endCxn id="35" idx="2"/>
          </p:cNvCxnSpPr>
          <p:nvPr/>
        </p:nvCxnSpPr>
        <p:spPr>
          <a:xfrm rot="16200000" flipV="1">
            <a:off x="6106987" y="7604969"/>
            <a:ext cx="2243186" cy="308327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pic>
        <p:nvPicPr>
          <p:cNvPr id="5" name="Graphic 4" descr="Call center with solid fill">
            <a:extLst>
              <a:ext uri="{FF2B5EF4-FFF2-40B4-BE49-F238E27FC236}">
                <a16:creationId xmlns:a16="http://schemas.microsoft.com/office/drawing/2014/main" id="{4BCC2699-1A74-07F2-2331-4382B6CB64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049" y="1396069"/>
            <a:ext cx="1015512" cy="1015512"/>
          </a:xfrm>
          <a:prstGeom prst="rect">
            <a:avLst/>
          </a:prstGeom>
        </p:spPr>
      </p:pic>
      <p:pic>
        <p:nvPicPr>
          <p:cNvPr id="7" name="Graphic 6" descr="Chat bubble with solid fill">
            <a:extLst>
              <a:ext uri="{FF2B5EF4-FFF2-40B4-BE49-F238E27FC236}">
                <a16:creationId xmlns:a16="http://schemas.microsoft.com/office/drawing/2014/main" id="{CCC3B25E-F95A-6D91-E1CD-773DF4A7A7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04849" y="1244851"/>
            <a:ext cx="658974" cy="658974"/>
          </a:xfrm>
          <a:prstGeom prst="rect">
            <a:avLst/>
          </a:prstGeom>
        </p:spPr>
      </p:pic>
      <p:sp>
        <p:nvSpPr>
          <p:cNvPr id="12" name="Rectangle 11">
            <a:extLst>
              <a:ext uri="{FF2B5EF4-FFF2-40B4-BE49-F238E27FC236}">
                <a16:creationId xmlns:a16="http://schemas.microsoft.com/office/drawing/2014/main" id="{BD4048B3-8425-0DE0-178F-8D4F2AAF53A8}"/>
              </a:ext>
            </a:extLst>
          </p:cNvPr>
          <p:cNvSpPr/>
          <p:nvPr/>
        </p:nvSpPr>
        <p:spPr>
          <a:xfrm>
            <a:off x="5669746" y="1786051"/>
            <a:ext cx="11341058" cy="33064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Box 13">
            <a:extLst>
              <a:ext uri="{FF2B5EF4-FFF2-40B4-BE49-F238E27FC236}">
                <a16:creationId xmlns:a16="http://schemas.microsoft.com/office/drawing/2014/main" id="{2D8DBE87-6697-597C-449E-B87A920BE263}"/>
              </a:ext>
            </a:extLst>
          </p:cNvPr>
          <p:cNvSpPr txBox="1"/>
          <p:nvPr/>
        </p:nvSpPr>
        <p:spPr>
          <a:xfrm>
            <a:off x="10459102" y="1786049"/>
            <a:ext cx="3721130" cy="611706"/>
          </a:xfrm>
          <a:prstGeom prst="rect">
            <a:avLst/>
          </a:prstGeom>
          <a:noFill/>
        </p:spPr>
        <p:txBody>
          <a:bodyPr wrap="square" rtlCol="0">
            <a:spAutoFit/>
          </a:bodyPr>
          <a:lstStyle/>
          <a:p>
            <a:r>
              <a:rPr lang="en-US" sz="1800" b="1" dirty="0">
                <a:solidFill>
                  <a:schemeClr val="bg1"/>
                </a:solidFill>
              </a:rPr>
              <a:t>Frontend</a:t>
            </a:r>
            <a:r>
              <a:rPr lang="en-US" sz="1800" dirty="0">
                <a:solidFill>
                  <a:schemeClr val="bg1"/>
                </a:solidFill>
              </a:rPr>
              <a:t> (React + Vite + Tailwind)</a:t>
            </a:r>
          </a:p>
          <a:p>
            <a:pPr algn="r"/>
            <a:r>
              <a:rPr lang="en-US" sz="1575" dirty="0">
                <a:solidFill>
                  <a:schemeClr val="bg1"/>
                </a:solidFill>
              </a:rPr>
              <a:t>Port 3000</a:t>
            </a:r>
          </a:p>
        </p:txBody>
      </p:sp>
      <p:sp>
        <p:nvSpPr>
          <p:cNvPr id="15" name="TextBox 14">
            <a:extLst>
              <a:ext uri="{FF2B5EF4-FFF2-40B4-BE49-F238E27FC236}">
                <a16:creationId xmlns:a16="http://schemas.microsoft.com/office/drawing/2014/main" id="{79D5CD9F-66EC-812D-1EAC-7BB61B7A44B8}"/>
              </a:ext>
            </a:extLst>
          </p:cNvPr>
          <p:cNvSpPr txBox="1"/>
          <p:nvPr/>
        </p:nvSpPr>
        <p:spPr>
          <a:xfrm>
            <a:off x="6106335" y="2471849"/>
            <a:ext cx="3267237" cy="2620644"/>
          </a:xfrm>
          <a:prstGeom prst="rect">
            <a:avLst/>
          </a:prstGeom>
          <a:solidFill>
            <a:schemeClr val="accent1">
              <a:lumMod val="20000"/>
              <a:lumOff val="80000"/>
              <a:alpha val="45000"/>
            </a:schemeClr>
          </a:solidFill>
          <a:ln>
            <a:solidFill>
              <a:schemeClr val="tx2"/>
            </a:solidFill>
          </a:ln>
        </p:spPr>
        <p:txBody>
          <a:bodyPr wrap="none" rtlCol="0">
            <a:noAutofit/>
          </a:bodyPr>
          <a:lstStyle/>
          <a:p>
            <a:pPr algn="ctr"/>
            <a:r>
              <a:rPr lang="en-US" sz="1800" b="1" dirty="0"/>
              <a:t>Analyze Tab</a:t>
            </a:r>
          </a:p>
          <a:p>
            <a:endParaRPr lang="en-US" sz="1800" dirty="0"/>
          </a:p>
          <a:p>
            <a:r>
              <a:rPr lang="en-US" sz="1800" dirty="0"/>
              <a:t>Customer </a:t>
            </a:r>
            <a:r>
              <a:rPr lang="en-US" sz="1800" dirty="0" err="1"/>
              <a:t>Combobox</a:t>
            </a:r>
            <a:endParaRPr lang="en-US" sz="1800" dirty="0"/>
          </a:p>
          <a:p>
            <a:r>
              <a:rPr lang="en-US" sz="1800" dirty="0"/>
              <a:t>Transcript Input</a:t>
            </a:r>
          </a:p>
          <a:p>
            <a:endParaRPr lang="en-US" sz="1800" dirty="0"/>
          </a:p>
          <a:p>
            <a:r>
              <a:rPr lang="en-US" sz="1800" dirty="0"/>
              <a:t>Results:</a:t>
            </a:r>
          </a:p>
          <a:p>
            <a:pPr marL="428625" indent="-428625">
              <a:buFont typeface="Arial" panose="020B0604020202020204" pitchFamily="34" charset="0"/>
              <a:buChar char="•"/>
            </a:pPr>
            <a:r>
              <a:rPr lang="en-US" sz="1800" dirty="0"/>
              <a:t>Risk Card</a:t>
            </a:r>
          </a:p>
          <a:p>
            <a:pPr marL="428625" indent="-428625">
              <a:buFont typeface="Arial" panose="020B0604020202020204" pitchFamily="34" charset="0"/>
              <a:buChar char="•"/>
            </a:pPr>
            <a:r>
              <a:rPr lang="en-US" sz="1800" dirty="0"/>
              <a:t>Sentiment Card</a:t>
            </a:r>
          </a:p>
          <a:p>
            <a:pPr marL="428625" indent="-428625">
              <a:buFont typeface="Arial" panose="020B0604020202020204" pitchFamily="34" charset="0"/>
              <a:buChar char="•"/>
            </a:pPr>
            <a:r>
              <a:rPr lang="en-US" sz="1800" dirty="0"/>
              <a:t>Action Card</a:t>
            </a:r>
          </a:p>
          <a:p>
            <a:pPr marL="428625" indent="-428625">
              <a:buFont typeface="Arial" panose="020B0604020202020204" pitchFamily="34" charset="0"/>
              <a:buChar char="•"/>
            </a:pPr>
            <a:endParaRPr lang="en-US" sz="1800" dirty="0"/>
          </a:p>
        </p:txBody>
      </p:sp>
      <p:sp>
        <p:nvSpPr>
          <p:cNvPr id="16" name="TextBox 15">
            <a:extLst>
              <a:ext uri="{FF2B5EF4-FFF2-40B4-BE49-F238E27FC236}">
                <a16:creationId xmlns:a16="http://schemas.microsoft.com/office/drawing/2014/main" id="{900DA32A-7A91-0215-1272-5280FFDCA9FA}"/>
              </a:ext>
            </a:extLst>
          </p:cNvPr>
          <p:cNvSpPr txBox="1"/>
          <p:nvPr/>
        </p:nvSpPr>
        <p:spPr>
          <a:xfrm>
            <a:off x="9730641" y="2471847"/>
            <a:ext cx="3267237" cy="2620644"/>
          </a:xfrm>
          <a:prstGeom prst="rect">
            <a:avLst/>
          </a:prstGeom>
          <a:solidFill>
            <a:schemeClr val="accent1">
              <a:lumMod val="20000"/>
              <a:lumOff val="80000"/>
              <a:alpha val="45000"/>
            </a:schemeClr>
          </a:solidFill>
          <a:ln>
            <a:solidFill>
              <a:schemeClr val="tx2"/>
            </a:solidFill>
          </a:ln>
        </p:spPr>
        <p:txBody>
          <a:bodyPr wrap="square" rtlCol="0">
            <a:noAutofit/>
          </a:bodyPr>
          <a:lstStyle/>
          <a:p>
            <a:pPr algn="ctr"/>
            <a:r>
              <a:rPr lang="en-US" sz="1800" b="1" dirty="0"/>
              <a:t>Chat Tab</a:t>
            </a:r>
          </a:p>
          <a:p>
            <a:endParaRPr lang="en-US" sz="1800" dirty="0"/>
          </a:p>
          <a:p>
            <a:r>
              <a:rPr lang="en-US" sz="1800" dirty="0"/>
              <a:t>Conversational AI</a:t>
            </a:r>
          </a:p>
          <a:p>
            <a:r>
              <a:rPr lang="en-US" sz="1800" dirty="0"/>
              <a:t>Session Memory </a:t>
            </a:r>
          </a:p>
          <a:p>
            <a:r>
              <a:rPr lang="en-US" sz="1800" dirty="0"/>
              <a:t>(</a:t>
            </a:r>
            <a:r>
              <a:rPr lang="en-US" sz="1800" dirty="0" err="1"/>
              <a:t>session_id</a:t>
            </a:r>
            <a:r>
              <a:rPr lang="en-US" sz="1800" dirty="0"/>
              <a:t>)</a:t>
            </a:r>
          </a:p>
          <a:p>
            <a:endParaRPr lang="en-US" sz="1800" dirty="0"/>
          </a:p>
          <a:p>
            <a:r>
              <a:rPr lang="en-US" sz="1800" dirty="0"/>
              <a:t>Runs Agent Service</a:t>
            </a:r>
          </a:p>
          <a:p>
            <a:r>
              <a:rPr lang="en-US" sz="1800" dirty="0"/>
              <a:t>Fallback to direct churn predictor API with simple logic</a:t>
            </a:r>
          </a:p>
        </p:txBody>
      </p:sp>
      <p:sp>
        <p:nvSpPr>
          <p:cNvPr id="17" name="TextBox 16">
            <a:extLst>
              <a:ext uri="{FF2B5EF4-FFF2-40B4-BE49-F238E27FC236}">
                <a16:creationId xmlns:a16="http://schemas.microsoft.com/office/drawing/2014/main" id="{C5DF47CD-17C9-04E1-7AC2-7407130B6000}"/>
              </a:ext>
            </a:extLst>
          </p:cNvPr>
          <p:cNvSpPr txBox="1"/>
          <p:nvPr/>
        </p:nvSpPr>
        <p:spPr>
          <a:xfrm>
            <a:off x="13354945" y="2493642"/>
            <a:ext cx="3267237" cy="2598851"/>
          </a:xfrm>
          <a:prstGeom prst="rect">
            <a:avLst/>
          </a:prstGeom>
          <a:solidFill>
            <a:schemeClr val="accent1">
              <a:lumMod val="20000"/>
              <a:lumOff val="80000"/>
              <a:alpha val="45000"/>
            </a:schemeClr>
          </a:solidFill>
          <a:ln>
            <a:solidFill>
              <a:schemeClr val="tx2"/>
            </a:solidFill>
          </a:ln>
        </p:spPr>
        <p:txBody>
          <a:bodyPr wrap="none" rtlCol="0">
            <a:noAutofit/>
          </a:bodyPr>
          <a:lstStyle/>
          <a:p>
            <a:pPr algn="ctr"/>
            <a:r>
              <a:rPr lang="en-US" sz="1800" b="1" dirty="0"/>
              <a:t>Transcribe Tab</a:t>
            </a:r>
          </a:p>
          <a:p>
            <a:endParaRPr lang="en-US" sz="1800" dirty="0"/>
          </a:p>
          <a:p>
            <a:r>
              <a:rPr lang="en-US" sz="1800" dirty="0"/>
              <a:t>Audio Upload </a:t>
            </a:r>
          </a:p>
          <a:p>
            <a:r>
              <a:rPr lang="en-US" sz="1800" dirty="0"/>
              <a:t>(.wav/.mp3)</a:t>
            </a:r>
          </a:p>
          <a:p>
            <a:r>
              <a:rPr lang="en-US" sz="1800" dirty="0"/>
              <a:t>Transcript List (S3)</a:t>
            </a:r>
          </a:p>
          <a:p>
            <a:pPr marL="428625" indent="-428625">
              <a:buFont typeface="Arial" panose="020B0604020202020204" pitchFamily="34" charset="0"/>
              <a:buChar char="•"/>
            </a:pPr>
            <a:endParaRPr lang="en-US" sz="1800" dirty="0"/>
          </a:p>
        </p:txBody>
      </p:sp>
      <p:cxnSp>
        <p:nvCxnSpPr>
          <p:cNvPr id="19" name="Straight Arrow Connector 18">
            <a:extLst>
              <a:ext uri="{FF2B5EF4-FFF2-40B4-BE49-F238E27FC236}">
                <a16:creationId xmlns:a16="http://schemas.microsoft.com/office/drawing/2014/main" id="{EEDE84B8-E791-F800-B0BA-BC41142733AE}"/>
              </a:ext>
            </a:extLst>
          </p:cNvPr>
          <p:cNvCxnSpPr/>
          <p:nvPr/>
        </p:nvCxnSpPr>
        <p:spPr>
          <a:xfrm>
            <a:off x="1494290" y="2020472"/>
            <a:ext cx="12366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A8CF524-D8F0-5F7D-F8EF-8A7892B4C2FB}"/>
              </a:ext>
            </a:extLst>
          </p:cNvPr>
          <p:cNvSpPr txBox="1"/>
          <p:nvPr/>
        </p:nvSpPr>
        <p:spPr>
          <a:xfrm>
            <a:off x="1634337" y="2026347"/>
            <a:ext cx="777777" cy="346249"/>
          </a:xfrm>
          <a:prstGeom prst="rect">
            <a:avLst/>
          </a:prstGeom>
          <a:noFill/>
        </p:spPr>
        <p:txBody>
          <a:bodyPr wrap="none" rtlCol="0">
            <a:spAutoFit/>
          </a:bodyPr>
          <a:lstStyle/>
          <a:p>
            <a:r>
              <a:rPr lang="en-US" sz="1650" dirty="0"/>
              <a:t>HTTPS</a:t>
            </a:r>
          </a:p>
        </p:txBody>
      </p:sp>
      <p:sp>
        <p:nvSpPr>
          <p:cNvPr id="21" name="Rectangle 20">
            <a:extLst>
              <a:ext uri="{FF2B5EF4-FFF2-40B4-BE49-F238E27FC236}">
                <a16:creationId xmlns:a16="http://schemas.microsoft.com/office/drawing/2014/main" id="{634883E3-98A6-4DAF-B9A0-BFFEBEE02C21}"/>
              </a:ext>
            </a:extLst>
          </p:cNvPr>
          <p:cNvSpPr/>
          <p:nvPr/>
        </p:nvSpPr>
        <p:spPr>
          <a:xfrm>
            <a:off x="3646772" y="5785245"/>
            <a:ext cx="9543683" cy="2763732"/>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TextBox 21">
            <a:extLst>
              <a:ext uri="{FF2B5EF4-FFF2-40B4-BE49-F238E27FC236}">
                <a16:creationId xmlns:a16="http://schemas.microsoft.com/office/drawing/2014/main" id="{C5061D7F-98BE-8F1D-274D-114C64E9755B}"/>
              </a:ext>
            </a:extLst>
          </p:cNvPr>
          <p:cNvSpPr txBox="1"/>
          <p:nvPr/>
        </p:nvSpPr>
        <p:spPr>
          <a:xfrm>
            <a:off x="10206107" y="5822873"/>
            <a:ext cx="2359913" cy="611706"/>
          </a:xfrm>
          <a:prstGeom prst="rect">
            <a:avLst/>
          </a:prstGeom>
          <a:noFill/>
        </p:spPr>
        <p:txBody>
          <a:bodyPr wrap="square" rtlCol="0">
            <a:spAutoFit/>
          </a:bodyPr>
          <a:lstStyle/>
          <a:p>
            <a:r>
              <a:rPr lang="en-US" sz="1800" b="1" dirty="0">
                <a:solidFill>
                  <a:schemeClr val="bg1"/>
                </a:solidFill>
              </a:rPr>
              <a:t>Agent Service</a:t>
            </a:r>
            <a:endParaRPr lang="en-US" sz="1800" dirty="0">
              <a:solidFill>
                <a:schemeClr val="bg1"/>
              </a:solidFill>
            </a:endParaRPr>
          </a:p>
          <a:p>
            <a:pPr algn="r"/>
            <a:r>
              <a:rPr lang="en-US" sz="1575" dirty="0" err="1">
                <a:solidFill>
                  <a:schemeClr val="bg1"/>
                </a:solidFill>
              </a:rPr>
              <a:t>FastAPI</a:t>
            </a:r>
            <a:r>
              <a:rPr lang="en-US" sz="1575" dirty="0">
                <a:solidFill>
                  <a:schemeClr val="bg1"/>
                </a:solidFill>
              </a:rPr>
              <a:t> :8080</a:t>
            </a:r>
          </a:p>
        </p:txBody>
      </p:sp>
      <p:sp>
        <p:nvSpPr>
          <p:cNvPr id="24" name="TextBox 23">
            <a:extLst>
              <a:ext uri="{FF2B5EF4-FFF2-40B4-BE49-F238E27FC236}">
                <a16:creationId xmlns:a16="http://schemas.microsoft.com/office/drawing/2014/main" id="{2D2755EE-3D9D-B53F-2F04-EF192DD1DA4A}"/>
              </a:ext>
            </a:extLst>
          </p:cNvPr>
          <p:cNvSpPr txBox="1"/>
          <p:nvPr/>
        </p:nvSpPr>
        <p:spPr>
          <a:xfrm>
            <a:off x="3838730" y="5999931"/>
            <a:ext cx="6230088" cy="2452301"/>
          </a:xfrm>
          <a:prstGeom prst="rect">
            <a:avLst/>
          </a:prstGeom>
          <a:solidFill>
            <a:schemeClr val="accent1">
              <a:lumMod val="20000"/>
              <a:lumOff val="80000"/>
              <a:alpha val="45000"/>
            </a:schemeClr>
          </a:solidFill>
          <a:ln>
            <a:solidFill>
              <a:schemeClr val="tx2"/>
            </a:solidFill>
          </a:ln>
        </p:spPr>
        <p:txBody>
          <a:bodyPr wrap="none" rtlCol="0">
            <a:noAutofit/>
          </a:bodyPr>
          <a:lstStyle/>
          <a:p>
            <a:pPr algn="ctr"/>
            <a:r>
              <a:rPr lang="en-US" sz="1800" b="1" dirty="0"/>
              <a:t>LangGraph Orchestrator</a:t>
            </a:r>
          </a:p>
          <a:p>
            <a:endParaRPr lang="en-US" sz="1800" dirty="0"/>
          </a:p>
          <a:p>
            <a:pPr marL="428625" indent="-428625">
              <a:buFont typeface="Arial" panose="020B0604020202020204" pitchFamily="34" charset="0"/>
              <a:buChar char="•"/>
            </a:pPr>
            <a:endParaRPr lang="en-US" sz="1800" dirty="0"/>
          </a:p>
        </p:txBody>
      </p:sp>
      <p:pic>
        <p:nvPicPr>
          <p:cNvPr id="53" name="Picture 52" descr="Nginx Logo PNG Images, Nginx Logo Transparent Background PNG">
            <a:extLst>
              <a:ext uri="{FF2B5EF4-FFF2-40B4-BE49-F238E27FC236}">
                <a16:creationId xmlns:a16="http://schemas.microsoft.com/office/drawing/2014/main" id="{7A5660EA-36DB-8609-7AF1-D1821DD420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2721" t="6211" r="12703" b="7055"/>
          <a:stretch>
            <a:fillRect/>
          </a:stretch>
        </p:blipFill>
        <p:spPr bwMode="auto">
          <a:xfrm>
            <a:off x="14259873" y="1872026"/>
            <a:ext cx="466938" cy="539555"/>
          </a:xfrm>
          <a:custGeom>
            <a:avLst/>
            <a:gdLst>
              <a:gd name="csX0" fmla="*/ 154858 w 311292"/>
              <a:gd name="csY0" fmla="*/ 0 h 359703"/>
              <a:gd name="csX1" fmla="*/ 311229 w 311292"/>
              <a:gd name="csY1" fmla="*/ 89699 h 359703"/>
              <a:gd name="csX2" fmla="*/ 311292 w 311292"/>
              <a:gd name="csY2" fmla="*/ 269969 h 359703"/>
              <a:gd name="csX3" fmla="*/ 156433 w 311292"/>
              <a:gd name="csY3" fmla="*/ 359703 h 359703"/>
              <a:gd name="csX4" fmla="*/ 63 w 311292"/>
              <a:gd name="csY4" fmla="*/ 270004 h 359703"/>
              <a:gd name="csX5" fmla="*/ 0 w 311292"/>
              <a:gd name="csY5" fmla="*/ 89733 h 359703"/>
            </a:gdLst>
            <a:ahLst/>
            <a:cxnLst>
              <a:cxn ang="0">
                <a:pos x="csX0" y="csY0"/>
              </a:cxn>
              <a:cxn ang="0">
                <a:pos x="csX1" y="csY1"/>
              </a:cxn>
              <a:cxn ang="0">
                <a:pos x="csX2" y="csY2"/>
              </a:cxn>
              <a:cxn ang="0">
                <a:pos x="csX3" y="csY3"/>
              </a:cxn>
              <a:cxn ang="0">
                <a:pos x="csX4" y="csY4"/>
              </a:cxn>
              <a:cxn ang="0">
                <a:pos x="csX5" y="csY5"/>
              </a:cxn>
            </a:cxnLst>
            <a:rect l="l" t="t" r="r" b="b"/>
            <a:pathLst>
              <a:path w="311292" h="359703">
                <a:moveTo>
                  <a:pt x="154858" y="0"/>
                </a:moveTo>
                <a:lnTo>
                  <a:pt x="311229" y="89699"/>
                </a:lnTo>
                <a:lnTo>
                  <a:pt x="311292" y="269969"/>
                </a:lnTo>
                <a:lnTo>
                  <a:pt x="156433" y="359703"/>
                </a:lnTo>
                <a:lnTo>
                  <a:pt x="63" y="270004"/>
                </a:lnTo>
                <a:lnTo>
                  <a:pt x="0" y="89733"/>
                </a:lnTo>
                <a:close/>
              </a:path>
            </a:pathLst>
          </a:custGeom>
          <a:noFill/>
          <a:ln>
            <a:solidFill>
              <a:schemeClr val="accent1">
                <a:shade val="15000"/>
              </a:schemeClr>
            </a:solidFill>
          </a:ln>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92E95AEB-92AB-55E9-CE86-0A3A2BFD285A}"/>
              </a:ext>
            </a:extLst>
          </p:cNvPr>
          <p:cNvSpPr/>
          <p:nvPr/>
        </p:nvSpPr>
        <p:spPr>
          <a:xfrm>
            <a:off x="4646516" y="6492287"/>
            <a:ext cx="2080853" cy="15327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Gatherer</a:t>
            </a:r>
          </a:p>
          <a:p>
            <a:pPr algn="ctr"/>
            <a:r>
              <a:rPr lang="en-US" sz="1800" dirty="0"/>
              <a:t>(Bedrock)</a:t>
            </a:r>
          </a:p>
          <a:p>
            <a:pPr algn="ctr"/>
            <a:endParaRPr lang="en-US" sz="1800" dirty="0"/>
          </a:p>
          <a:p>
            <a:pPr algn="ctr"/>
            <a:endParaRPr lang="en-US" sz="1800" dirty="0"/>
          </a:p>
          <a:p>
            <a:r>
              <a:rPr lang="en-US" sz="1800" dirty="0"/>
              <a:t>Claude Haiku 4.5</a:t>
            </a:r>
          </a:p>
        </p:txBody>
      </p:sp>
      <p:sp>
        <p:nvSpPr>
          <p:cNvPr id="36" name="Rectangle 35">
            <a:extLst>
              <a:ext uri="{FF2B5EF4-FFF2-40B4-BE49-F238E27FC236}">
                <a16:creationId xmlns:a16="http://schemas.microsoft.com/office/drawing/2014/main" id="{A31096B0-9416-FA1A-8EF9-64BCCBCC27A4}"/>
              </a:ext>
            </a:extLst>
          </p:cNvPr>
          <p:cNvSpPr/>
          <p:nvPr/>
        </p:nvSpPr>
        <p:spPr>
          <a:xfrm>
            <a:off x="7296655" y="6492287"/>
            <a:ext cx="2080853" cy="15327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Strategist</a:t>
            </a:r>
          </a:p>
          <a:p>
            <a:pPr algn="ctr"/>
            <a:r>
              <a:rPr lang="en-US" sz="1800" dirty="0"/>
              <a:t>(Bedrock)</a:t>
            </a:r>
          </a:p>
          <a:p>
            <a:pPr algn="ctr"/>
            <a:endParaRPr lang="en-US" sz="1800" dirty="0"/>
          </a:p>
          <a:p>
            <a:pPr algn="ctr"/>
            <a:endParaRPr lang="en-US" sz="1800" dirty="0"/>
          </a:p>
          <a:p>
            <a:r>
              <a:rPr lang="en-US" sz="1800" dirty="0"/>
              <a:t>Claude Haiku 4.5</a:t>
            </a:r>
          </a:p>
        </p:txBody>
      </p:sp>
      <p:cxnSp>
        <p:nvCxnSpPr>
          <p:cNvPr id="37" name="Straight Arrow Connector 36">
            <a:extLst>
              <a:ext uri="{FF2B5EF4-FFF2-40B4-BE49-F238E27FC236}">
                <a16:creationId xmlns:a16="http://schemas.microsoft.com/office/drawing/2014/main" id="{1D562D34-E810-BEF5-AC5B-1069E84A4154}"/>
              </a:ext>
            </a:extLst>
          </p:cNvPr>
          <p:cNvCxnSpPr>
            <a:cxnSpLocks/>
            <a:stCxn id="16" idx="2"/>
          </p:cNvCxnSpPr>
          <p:nvPr/>
        </p:nvCxnSpPr>
        <p:spPr>
          <a:xfrm>
            <a:off x="11364258" y="5092491"/>
            <a:ext cx="0" cy="6624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B62149BA-6887-D254-ADE7-348FACBEDB51}"/>
              </a:ext>
            </a:extLst>
          </p:cNvPr>
          <p:cNvSpPr txBox="1"/>
          <p:nvPr/>
        </p:nvSpPr>
        <p:spPr>
          <a:xfrm>
            <a:off x="10260779" y="6471486"/>
            <a:ext cx="2576417" cy="2031325"/>
          </a:xfrm>
          <a:prstGeom prst="rect">
            <a:avLst/>
          </a:prstGeom>
          <a:noFill/>
        </p:spPr>
        <p:txBody>
          <a:bodyPr wrap="square" rtlCol="0">
            <a:spAutoFit/>
          </a:bodyPr>
          <a:lstStyle/>
          <a:p>
            <a:r>
              <a:rPr lang="en-US" sz="1575" dirty="0">
                <a:solidFill>
                  <a:schemeClr val="bg1"/>
                </a:solidFill>
              </a:rPr>
              <a:t>POST /chat</a:t>
            </a:r>
          </a:p>
          <a:p>
            <a:r>
              <a:rPr lang="en-US" sz="1575" dirty="0">
                <a:solidFill>
                  <a:schemeClr val="bg1"/>
                </a:solidFill>
              </a:rPr>
              <a:t>GET /health</a:t>
            </a:r>
          </a:p>
          <a:p>
            <a:endParaRPr lang="en-US" sz="1575" dirty="0">
              <a:solidFill>
                <a:schemeClr val="bg1"/>
              </a:solidFill>
            </a:endParaRPr>
          </a:p>
          <a:p>
            <a:r>
              <a:rPr lang="en-US" sz="1575" dirty="0">
                <a:solidFill>
                  <a:schemeClr val="bg1"/>
                </a:solidFill>
              </a:rPr>
              <a:t>Tools:</a:t>
            </a:r>
          </a:p>
          <a:p>
            <a:r>
              <a:rPr lang="en-US" sz="1575" dirty="0">
                <a:solidFill>
                  <a:schemeClr val="bg1"/>
                </a:solidFill>
              </a:rPr>
              <a:t>get_customer_details</a:t>
            </a:r>
          </a:p>
          <a:p>
            <a:r>
              <a:rPr lang="en-US" sz="1575" dirty="0">
                <a:solidFill>
                  <a:schemeClr val="bg1"/>
                </a:solidFill>
              </a:rPr>
              <a:t>predict_churn</a:t>
            </a:r>
          </a:p>
          <a:p>
            <a:r>
              <a:rPr lang="en-US" sz="1575" dirty="0">
                <a:solidFill>
                  <a:schemeClr val="bg1"/>
                </a:solidFill>
              </a:rPr>
              <a:t>analyze_call</a:t>
            </a:r>
          </a:p>
          <a:p>
            <a:r>
              <a:rPr lang="en-US" sz="1575" dirty="0">
                <a:solidFill>
                  <a:schemeClr val="bg1"/>
                </a:solidFill>
              </a:rPr>
              <a:t>get_high_risk_customers</a:t>
            </a:r>
          </a:p>
        </p:txBody>
      </p:sp>
      <p:sp>
        <p:nvSpPr>
          <p:cNvPr id="58" name="Rectangle 57">
            <a:extLst>
              <a:ext uri="{FF2B5EF4-FFF2-40B4-BE49-F238E27FC236}">
                <a16:creationId xmlns:a16="http://schemas.microsoft.com/office/drawing/2014/main" id="{C931A820-DFD3-273D-7AEF-A7AF2BACE508}"/>
              </a:ext>
            </a:extLst>
          </p:cNvPr>
          <p:cNvSpPr/>
          <p:nvPr/>
        </p:nvSpPr>
        <p:spPr>
          <a:xfrm>
            <a:off x="17609948" y="5773307"/>
            <a:ext cx="3580430" cy="5068112"/>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800" dirty="0"/>
              <a:t>SageMaker Endpoint #1</a:t>
            </a:r>
          </a:p>
          <a:p>
            <a:pPr algn="r"/>
            <a:r>
              <a:rPr lang="en-US" sz="1575" dirty="0"/>
              <a:t>(FastAPI :8002)</a:t>
            </a:r>
          </a:p>
          <a:p>
            <a:pPr algn="ctr"/>
            <a:endParaRPr lang="en-US" sz="1800" dirty="0"/>
          </a:p>
        </p:txBody>
      </p:sp>
      <p:sp>
        <p:nvSpPr>
          <p:cNvPr id="59" name="TextBox 58">
            <a:extLst>
              <a:ext uri="{FF2B5EF4-FFF2-40B4-BE49-F238E27FC236}">
                <a16:creationId xmlns:a16="http://schemas.microsoft.com/office/drawing/2014/main" id="{F6F7288A-33E3-898D-D42B-5B3F061D4322}"/>
              </a:ext>
            </a:extLst>
          </p:cNvPr>
          <p:cNvSpPr txBox="1"/>
          <p:nvPr/>
        </p:nvSpPr>
        <p:spPr>
          <a:xfrm>
            <a:off x="17661084" y="6382447"/>
            <a:ext cx="3871449" cy="334707"/>
          </a:xfrm>
          <a:prstGeom prst="rect">
            <a:avLst/>
          </a:prstGeom>
          <a:noFill/>
        </p:spPr>
        <p:txBody>
          <a:bodyPr wrap="square" rtlCol="0">
            <a:spAutoFit/>
          </a:bodyPr>
          <a:lstStyle/>
          <a:p>
            <a:r>
              <a:rPr lang="en-US" sz="1575" dirty="0">
                <a:solidFill>
                  <a:schemeClr val="bg1"/>
                </a:solidFill>
              </a:rPr>
              <a:t>retention-sentiment-analysis-endpoint</a:t>
            </a:r>
          </a:p>
        </p:txBody>
      </p:sp>
      <p:sp>
        <p:nvSpPr>
          <p:cNvPr id="61" name="TextBox 60">
            <a:extLst>
              <a:ext uri="{FF2B5EF4-FFF2-40B4-BE49-F238E27FC236}">
                <a16:creationId xmlns:a16="http://schemas.microsoft.com/office/drawing/2014/main" id="{A242171B-7292-5EE0-C4BC-26745502BEE7}"/>
              </a:ext>
            </a:extLst>
          </p:cNvPr>
          <p:cNvSpPr txBox="1"/>
          <p:nvPr/>
        </p:nvSpPr>
        <p:spPr>
          <a:xfrm>
            <a:off x="4702720" y="8094530"/>
            <a:ext cx="5639903" cy="334707"/>
          </a:xfrm>
          <a:prstGeom prst="rect">
            <a:avLst/>
          </a:prstGeom>
          <a:noFill/>
        </p:spPr>
        <p:txBody>
          <a:bodyPr wrap="square" rtlCol="0">
            <a:spAutoFit/>
          </a:bodyPr>
          <a:lstStyle/>
          <a:p>
            <a:r>
              <a:rPr lang="en-US" sz="1575" dirty="0">
                <a:solidFill>
                  <a:schemeClr val="bg1"/>
                </a:solidFill>
              </a:rPr>
              <a:t>Guardrail: Bedrock content mod (hate/violence/PII)</a:t>
            </a:r>
          </a:p>
        </p:txBody>
      </p:sp>
      <p:sp>
        <p:nvSpPr>
          <p:cNvPr id="62" name="Rectangle 61">
            <a:extLst>
              <a:ext uri="{FF2B5EF4-FFF2-40B4-BE49-F238E27FC236}">
                <a16:creationId xmlns:a16="http://schemas.microsoft.com/office/drawing/2014/main" id="{156E50D2-B9F1-FD23-FB9D-DE6BD2429E1F}"/>
              </a:ext>
            </a:extLst>
          </p:cNvPr>
          <p:cNvSpPr/>
          <p:nvPr/>
        </p:nvSpPr>
        <p:spPr>
          <a:xfrm>
            <a:off x="6980002" y="10268200"/>
            <a:ext cx="3580430" cy="2470365"/>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800" dirty="0"/>
              <a:t>SageMaker Endpoint #2</a:t>
            </a:r>
          </a:p>
          <a:p>
            <a:pPr algn="r"/>
            <a:r>
              <a:rPr lang="en-US" sz="1800" dirty="0"/>
              <a:t>(FastAPI :8001)</a:t>
            </a:r>
          </a:p>
          <a:p>
            <a:pPr algn="ctr"/>
            <a:endParaRPr lang="en-US" sz="1800" dirty="0"/>
          </a:p>
        </p:txBody>
      </p:sp>
      <p:sp>
        <p:nvSpPr>
          <p:cNvPr id="63" name="TextBox 62">
            <a:extLst>
              <a:ext uri="{FF2B5EF4-FFF2-40B4-BE49-F238E27FC236}">
                <a16:creationId xmlns:a16="http://schemas.microsoft.com/office/drawing/2014/main" id="{51D032F5-C24B-5383-ED1A-EEEDCF4C78F9}"/>
              </a:ext>
            </a:extLst>
          </p:cNvPr>
          <p:cNvSpPr txBox="1"/>
          <p:nvPr/>
        </p:nvSpPr>
        <p:spPr>
          <a:xfrm>
            <a:off x="7043805" y="10903448"/>
            <a:ext cx="2576417" cy="1788951"/>
          </a:xfrm>
          <a:prstGeom prst="rect">
            <a:avLst/>
          </a:prstGeom>
          <a:noFill/>
        </p:spPr>
        <p:txBody>
          <a:bodyPr wrap="square" rtlCol="0">
            <a:spAutoFit/>
          </a:bodyPr>
          <a:lstStyle/>
          <a:p>
            <a:r>
              <a:rPr lang="en-US" sz="1575" dirty="0">
                <a:solidFill>
                  <a:schemeClr val="bg1"/>
                </a:solidFill>
              </a:rPr>
              <a:t>churn-predictor-endpoint</a:t>
            </a:r>
          </a:p>
          <a:p>
            <a:endParaRPr lang="en-US" sz="1575" dirty="0">
              <a:solidFill>
                <a:schemeClr val="bg1"/>
              </a:solidFill>
            </a:endParaRPr>
          </a:p>
          <a:p>
            <a:r>
              <a:rPr lang="en-US" sz="1575" dirty="0" err="1">
                <a:solidFill>
                  <a:schemeClr val="bg1"/>
                </a:solidFill>
              </a:rPr>
              <a:t>XGBoost</a:t>
            </a:r>
            <a:r>
              <a:rPr lang="en-US" sz="1575" dirty="0">
                <a:solidFill>
                  <a:schemeClr val="bg1"/>
                </a:solidFill>
              </a:rPr>
              <a:t> v3 – 31 Features</a:t>
            </a:r>
          </a:p>
          <a:p>
            <a:r>
              <a:rPr lang="en-US" sz="1575" dirty="0">
                <a:solidFill>
                  <a:schemeClr val="bg1"/>
                </a:solidFill>
              </a:rPr>
              <a:t>31 Features</a:t>
            </a:r>
          </a:p>
          <a:p>
            <a:r>
              <a:rPr lang="en-US" sz="1575" dirty="0">
                <a:solidFill>
                  <a:schemeClr val="bg1"/>
                </a:solidFill>
              </a:rPr>
              <a:t>91% accuracy</a:t>
            </a:r>
          </a:p>
          <a:p>
            <a:r>
              <a:rPr lang="en-US" sz="1575" dirty="0">
                <a:solidFill>
                  <a:schemeClr val="bg1"/>
                </a:solidFill>
              </a:rPr>
              <a:t>0.9861 AUC</a:t>
            </a:r>
          </a:p>
          <a:p>
            <a:r>
              <a:rPr lang="en-US" sz="1575" dirty="0">
                <a:solidFill>
                  <a:schemeClr val="bg1"/>
                </a:solidFill>
              </a:rPr>
              <a:t>Native </a:t>
            </a:r>
            <a:r>
              <a:rPr lang="en-US" sz="1575" dirty="0" err="1">
                <a:solidFill>
                  <a:schemeClr val="bg1"/>
                </a:solidFill>
              </a:rPr>
              <a:t>XGBoost</a:t>
            </a:r>
            <a:r>
              <a:rPr lang="en-US" sz="1575" dirty="0">
                <a:solidFill>
                  <a:schemeClr val="bg1"/>
                </a:solidFill>
              </a:rPr>
              <a:t> Container</a:t>
            </a:r>
          </a:p>
        </p:txBody>
      </p:sp>
      <p:sp>
        <p:nvSpPr>
          <p:cNvPr id="1024" name="TextBox 1023">
            <a:extLst>
              <a:ext uri="{FF2B5EF4-FFF2-40B4-BE49-F238E27FC236}">
                <a16:creationId xmlns:a16="http://schemas.microsoft.com/office/drawing/2014/main" id="{C22A24F1-7783-D80B-76EC-7AC47052B50F}"/>
              </a:ext>
            </a:extLst>
          </p:cNvPr>
          <p:cNvSpPr txBox="1"/>
          <p:nvPr/>
        </p:nvSpPr>
        <p:spPr>
          <a:xfrm>
            <a:off x="17609949" y="6699047"/>
            <a:ext cx="3848913" cy="4212692"/>
          </a:xfrm>
          <a:prstGeom prst="rect">
            <a:avLst/>
          </a:prstGeom>
          <a:noFill/>
        </p:spPr>
        <p:txBody>
          <a:bodyPr wrap="square" rtlCol="0">
            <a:spAutoFit/>
          </a:bodyPr>
          <a:lstStyle/>
          <a:p>
            <a:r>
              <a:rPr lang="en-US" sz="1575" dirty="0">
                <a:solidFill>
                  <a:schemeClr val="bg1"/>
                </a:solidFill>
              </a:rPr>
              <a:t>POST /predict</a:t>
            </a:r>
          </a:p>
          <a:p>
            <a:r>
              <a:rPr lang="en-US" sz="1575" dirty="0">
                <a:solidFill>
                  <a:schemeClr val="bg1"/>
                </a:solidFill>
              </a:rPr>
              <a:t>GET /health</a:t>
            </a:r>
          </a:p>
          <a:p>
            <a:endParaRPr lang="en-US" sz="1575" dirty="0">
              <a:solidFill>
                <a:schemeClr val="bg1"/>
              </a:solidFill>
            </a:endParaRPr>
          </a:p>
          <a:p>
            <a:pPr marL="342900" indent="-342900">
              <a:buAutoNum type="arabicPeriod"/>
            </a:pPr>
            <a:r>
              <a:rPr lang="en-US" sz="1575" dirty="0">
                <a:solidFill>
                  <a:schemeClr val="bg1"/>
                </a:solidFill>
              </a:rPr>
              <a:t>SageMaker Call</a:t>
            </a:r>
          </a:p>
          <a:p>
            <a:pPr marL="342900" indent="-342900">
              <a:buAutoNum type="arabicPeriod"/>
            </a:pPr>
            <a:r>
              <a:rPr lang="en-US" sz="1575" dirty="0">
                <a:solidFill>
                  <a:schemeClr val="bg1"/>
                </a:solidFill>
              </a:rPr>
              <a:t>Decode Label (Neg/Neu/Pos)</a:t>
            </a:r>
          </a:p>
          <a:p>
            <a:pPr marL="342900" indent="-342900">
              <a:buAutoNum type="arabicPeriod"/>
            </a:pPr>
            <a:r>
              <a:rPr lang="en-US" sz="1575" dirty="0">
                <a:solidFill>
                  <a:schemeClr val="bg1"/>
                </a:solidFill>
              </a:rPr>
              <a:t>Emotion Scores (Keyword NLP)</a:t>
            </a:r>
          </a:p>
          <a:p>
            <a:pPr marL="342900" indent="-342900">
              <a:buAutoNum type="arabicPeriod"/>
            </a:pPr>
            <a:r>
              <a:rPr lang="en-US" sz="1575" dirty="0">
                <a:solidFill>
                  <a:schemeClr val="bg1"/>
                </a:solidFill>
              </a:rPr>
              <a:t>Sentiment Shift (1</a:t>
            </a:r>
            <a:r>
              <a:rPr lang="en-US" sz="1575" baseline="30000" dirty="0">
                <a:solidFill>
                  <a:schemeClr val="bg1"/>
                </a:solidFill>
              </a:rPr>
              <a:t>st</a:t>
            </a:r>
            <a:r>
              <a:rPr lang="en-US" sz="1575" dirty="0">
                <a:solidFill>
                  <a:schemeClr val="bg1"/>
                </a:solidFill>
              </a:rPr>
              <a:t> half vs 2</a:t>
            </a:r>
            <a:r>
              <a:rPr lang="en-US" sz="1575" baseline="30000" dirty="0">
                <a:solidFill>
                  <a:schemeClr val="bg1"/>
                </a:solidFill>
              </a:rPr>
              <a:t>nd</a:t>
            </a:r>
            <a:r>
              <a:rPr lang="en-US" sz="1575" dirty="0">
                <a:solidFill>
                  <a:schemeClr val="bg1"/>
                </a:solidFill>
              </a:rPr>
              <a:t>)</a:t>
            </a:r>
          </a:p>
          <a:p>
            <a:pPr marL="342900" indent="-342900">
              <a:buAutoNum type="arabicPeriod"/>
            </a:pPr>
            <a:r>
              <a:rPr lang="en-US" sz="1575" dirty="0">
                <a:solidFill>
                  <a:schemeClr val="bg1"/>
                </a:solidFill>
              </a:rPr>
              <a:t>Escalation/Resolution detect</a:t>
            </a:r>
          </a:p>
          <a:p>
            <a:pPr marL="342900" indent="-342900">
              <a:buAutoNum type="arabicPeriod"/>
            </a:pPr>
            <a:r>
              <a:rPr lang="en-US" sz="1575" dirty="0">
                <a:solidFill>
                  <a:schemeClr val="bg1"/>
                </a:solidFill>
              </a:rPr>
              <a:t>QA Score (composite)</a:t>
            </a:r>
          </a:p>
          <a:p>
            <a:pPr marL="342900" indent="-342900">
              <a:buAutoNum type="arabicPeriod"/>
            </a:pPr>
            <a:r>
              <a:rPr lang="en-US" sz="1575" dirty="0">
                <a:solidFill>
                  <a:schemeClr val="bg1"/>
                </a:solidFill>
              </a:rPr>
              <a:t>Return Output</a:t>
            </a:r>
          </a:p>
          <a:p>
            <a:pPr marL="342900" indent="-342900">
              <a:buAutoNum type="arabicPeriod"/>
            </a:pPr>
            <a:endParaRPr lang="en-US" sz="1575" dirty="0">
              <a:solidFill>
                <a:schemeClr val="bg1"/>
              </a:solidFill>
            </a:endParaRPr>
          </a:p>
          <a:p>
            <a:r>
              <a:rPr lang="en-US" sz="1575" dirty="0">
                <a:solidFill>
                  <a:schemeClr val="bg1"/>
                </a:solidFill>
              </a:rPr>
              <a:t>Output:</a:t>
            </a:r>
          </a:p>
          <a:p>
            <a:r>
              <a:rPr lang="en-US" sz="1575" dirty="0">
                <a:solidFill>
                  <a:schemeClr val="bg1"/>
                </a:solidFill>
              </a:rPr>
              <a:t>1. </a:t>
            </a:r>
            <a:r>
              <a:rPr lang="en-US" sz="1575" dirty="0" err="1">
                <a:solidFill>
                  <a:schemeClr val="bg1"/>
                </a:solidFill>
              </a:rPr>
              <a:t>qa_score</a:t>
            </a:r>
            <a:r>
              <a:rPr lang="en-US" sz="1575" dirty="0">
                <a:solidFill>
                  <a:schemeClr val="bg1"/>
                </a:solidFill>
              </a:rPr>
              <a:t> (0-10)     2. </a:t>
            </a:r>
            <a:r>
              <a:rPr lang="en-US" sz="1575" dirty="0" err="1">
                <a:solidFill>
                  <a:schemeClr val="bg1"/>
                </a:solidFill>
              </a:rPr>
              <a:t>Sentiment_shift</a:t>
            </a:r>
            <a:endParaRPr lang="en-US" sz="1575" dirty="0">
              <a:solidFill>
                <a:schemeClr val="bg1"/>
              </a:solidFill>
            </a:endParaRPr>
          </a:p>
          <a:p>
            <a:r>
              <a:rPr lang="en-US" sz="1575" dirty="0">
                <a:solidFill>
                  <a:schemeClr val="bg1"/>
                </a:solidFill>
              </a:rPr>
              <a:t>3. sentiment (label)  4. </a:t>
            </a:r>
            <a:r>
              <a:rPr lang="en-US" sz="1575" dirty="0" err="1">
                <a:solidFill>
                  <a:schemeClr val="bg1"/>
                </a:solidFill>
              </a:rPr>
              <a:t>escalation_flag</a:t>
            </a:r>
            <a:endParaRPr lang="en-US" sz="1575" dirty="0">
              <a:solidFill>
                <a:schemeClr val="bg1"/>
              </a:solidFill>
            </a:endParaRPr>
          </a:p>
          <a:p>
            <a:r>
              <a:rPr lang="en-US" sz="1575" dirty="0">
                <a:solidFill>
                  <a:schemeClr val="bg1"/>
                </a:solidFill>
              </a:rPr>
              <a:t>5. </a:t>
            </a:r>
            <a:r>
              <a:rPr lang="en-US" sz="1575" dirty="0" err="1">
                <a:solidFill>
                  <a:schemeClr val="bg1"/>
                </a:solidFill>
              </a:rPr>
              <a:t>emotion_frustration</a:t>
            </a:r>
            <a:r>
              <a:rPr lang="en-US" sz="1575" dirty="0">
                <a:solidFill>
                  <a:schemeClr val="bg1"/>
                </a:solidFill>
              </a:rPr>
              <a:t> </a:t>
            </a:r>
          </a:p>
          <a:p>
            <a:r>
              <a:rPr lang="en-US" sz="1575" dirty="0">
                <a:solidFill>
                  <a:schemeClr val="bg1"/>
                </a:solidFill>
              </a:rPr>
              <a:t>6. </a:t>
            </a:r>
            <a:r>
              <a:rPr lang="en-US" sz="1575" dirty="0" err="1">
                <a:solidFill>
                  <a:schemeClr val="bg1"/>
                </a:solidFill>
              </a:rPr>
              <a:t>resolution_flag</a:t>
            </a:r>
            <a:r>
              <a:rPr lang="en-US" sz="1575" dirty="0">
                <a:solidFill>
                  <a:schemeClr val="bg1"/>
                </a:solidFill>
              </a:rPr>
              <a:t>      7. </a:t>
            </a:r>
            <a:r>
              <a:rPr lang="en-US" sz="1575" dirty="0" err="1">
                <a:solidFill>
                  <a:schemeClr val="bg1"/>
                </a:solidFill>
              </a:rPr>
              <a:t>emotion_anger</a:t>
            </a:r>
            <a:endParaRPr lang="en-US" sz="1575" dirty="0">
              <a:solidFill>
                <a:schemeClr val="bg1"/>
              </a:solidFill>
            </a:endParaRPr>
          </a:p>
          <a:p>
            <a:endParaRPr lang="en-US" sz="1575" dirty="0">
              <a:solidFill>
                <a:schemeClr val="bg1"/>
              </a:solidFill>
            </a:endParaRPr>
          </a:p>
        </p:txBody>
      </p:sp>
      <p:sp>
        <p:nvSpPr>
          <p:cNvPr id="1028" name="Rectangle 1027">
            <a:extLst>
              <a:ext uri="{FF2B5EF4-FFF2-40B4-BE49-F238E27FC236}">
                <a16:creationId xmlns:a16="http://schemas.microsoft.com/office/drawing/2014/main" id="{95577109-E0A2-8AD7-6B55-5F7DA43BE6EF}"/>
              </a:ext>
            </a:extLst>
          </p:cNvPr>
          <p:cNvSpPr/>
          <p:nvPr/>
        </p:nvSpPr>
        <p:spPr>
          <a:xfrm>
            <a:off x="13629017" y="8969560"/>
            <a:ext cx="3580430" cy="3692258"/>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800" dirty="0"/>
              <a:t>S3: retain-engine-bucket</a:t>
            </a:r>
          </a:p>
          <a:p>
            <a:pPr algn="ctr"/>
            <a:endParaRPr lang="en-US" sz="1800" dirty="0"/>
          </a:p>
        </p:txBody>
      </p:sp>
      <p:sp>
        <p:nvSpPr>
          <p:cNvPr id="1029" name="TextBox 1028">
            <a:extLst>
              <a:ext uri="{FF2B5EF4-FFF2-40B4-BE49-F238E27FC236}">
                <a16:creationId xmlns:a16="http://schemas.microsoft.com/office/drawing/2014/main" id="{A58DBA2D-0377-126D-5B4D-24F310AFC832}"/>
              </a:ext>
            </a:extLst>
          </p:cNvPr>
          <p:cNvSpPr txBox="1"/>
          <p:nvPr/>
        </p:nvSpPr>
        <p:spPr>
          <a:xfrm>
            <a:off x="13619238" y="9524559"/>
            <a:ext cx="3565113" cy="2758447"/>
          </a:xfrm>
          <a:prstGeom prst="rect">
            <a:avLst/>
          </a:prstGeom>
          <a:noFill/>
        </p:spPr>
        <p:txBody>
          <a:bodyPr wrap="square" rtlCol="0">
            <a:spAutoFit/>
          </a:bodyPr>
          <a:lstStyle/>
          <a:p>
            <a:r>
              <a:rPr lang="en-US" sz="1575" dirty="0">
                <a:solidFill>
                  <a:schemeClr val="bg1"/>
                </a:solidFill>
              </a:rPr>
              <a:t>/data/</a:t>
            </a:r>
            <a:r>
              <a:rPr lang="en-US" sz="1575" dirty="0" err="1">
                <a:solidFill>
                  <a:schemeClr val="bg1"/>
                </a:solidFill>
              </a:rPr>
              <a:t>internet_data.csv</a:t>
            </a:r>
            <a:r>
              <a:rPr lang="en-US" sz="1575" dirty="0">
                <a:solidFill>
                  <a:schemeClr val="bg1"/>
                </a:solidFill>
              </a:rPr>
              <a:t> - </a:t>
            </a:r>
          </a:p>
          <a:p>
            <a:r>
              <a:rPr lang="en-US" sz="1575" dirty="0">
                <a:solidFill>
                  <a:schemeClr val="bg1"/>
                </a:solidFill>
              </a:rPr>
              <a:t>      internet service plans (</a:t>
            </a:r>
            <a:r>
              <a:rPr lang="en-US" sz="1575" dirty="0" err="1">
                <a:solidFill>
                  <a:schemeClr val="bg1"/>
                </a:solidFill>
              </a:rPr>
              <a:t>plan_tier</a:t>
            </a:r>
            <a:r>
              <a:rPr lang="en-US" sz="1575" dirty="0">
                <a:solidFill>
                  <a:schemeClr val="bg1"/>
                </a:solidFill>
              </a:rPr>
              <a:t>, </a:t>
            </a:r>
          </a:p>
          <a:p>
            <a:r>
              <a:rPr lang="en-US" sz="1575" dirty="0">
                <a:solidFill>
                  <a:schemeClr val="bg1"/>
                </a:solidFill>
              </a:rPr>
              <a:t>      </a:t>
            </a:r>
            <a:r>
              <a:rPr lang="en-US" sz="1575" dirty="0" err="1">
                <a:solidFill>
                  <a:schemeClr val="bg1"/>
                </a:solidFill>
              </a:rPr>
              <a:t>speed_mbps</a:t>
            </a:r>
            <a:r>
              <a:rPr lang="en-US" sz="1575" dirty="0">
                <a:solidFill>
                  <a:schemeClr val="bg1"/>
                </a:solidFill>
              </a:rPr>
              <a:t>, </a:t>
            </a:r>
            <a:r>
              <a:rPr lang="en-US" sz="1575" dirty="0" err="1">
                <a:solidFill>
                  <a:schemeClr val="bg1"/>
                </a:solidFill>
              </a:rPr>
              <a:t>monthly_cost</a:t>
            </a:r>
            <a:r>
              <a:rPr lang="en-US" sz="1575" dirty="0">
                <a:solidFill>
                  <a:schemeClr val="bg1"/>
                </a:solidFill>
              </a:rPr>
              <a:t>, etc.)</a:t>
            </a:r>
          </a:p>
          <a:p>
            <a:r>
              <a:rPr lang="en-US" sz="1575" dirty="0">
                <a:solidFill>
                  <a:schemeClr val="bg1"/>
                </a:solidFill>
              </a:rPr>
              <a:t>/data/</a:t>
            </a:r>
            <a:r>
              <a:rPr lang="en-US" sz="1575" dirty="0" err="1">
                <a:solidFill>
                  <a:schemeClr val="bg1"/>
                </a:solidFill>
              </a:rPr>
              <a:t>trilink_customers_data.csv</a:t>
            </a:r>
            <a:r>
              <a:rPr lang="en-US" sz="1575" dirty="0">
                <a:solidFill>
                  <a:schemeClr val="bg1"/>
                </a:solidFill>
              </a:rPr>
              <a:t> -   </a:t>
            </a:r>
          </a:p>
          <a:p>
            <a:r>
              <a:rPr lang="en-US" sz="1575" dirty="0">
                <a:solidFill>
                  <a:schemeClr val="bg1"/>
                </a:solidFill>
              </a:rPr>
              <a:t>      customer demographics (age,   </a:t>
            </a:r>
          </a:p>
          <a:p>
            <a:r>
              <a:rPr lang="en-US" sz="1575" dirty="0">
                <a:solidFill>
                  <a:schemeClr val="bg1"/>
                </a:solidFill>
              </a:rPr>
              <a:t>      income, home ownership, etc.)</a:t>
            </a:r>
          </a:p>
          <a:p>
            <a:r>
              <a:rPr lang="en-US" sz="1575" dirty="0">
                <a:solidFill>
                  <a:schemeClr val="bg1"/>
                </a:solidFill>
              </a:rPr>
              <a:t>/audio/{</a:t>
            </a:r>
            <a:r>
              <a:rPr lang="en-US" sz="1575" dirty="0" err="1">
                <a:solidFill>
                  <a:schemeClr val="bg1"/>
                </a:solidFill>
              </a:rPr>
              <a:t>cust_id</a:t>
            </a:r>
            <a:r>
              <a:rPr lang="en-US" sz="1575" dirty="0">
                <a:solidFill>
                  <a:schemeClr val="bg1"/>
                </a:solidFill>
              </a:rPr>
              <a:t>}/{timestamp}.wav</a:t>
            </a:r>
          </a:p>
          <a:p>
            <a:r>
              <a:rPr lang="en-US" sz="1575" dirty="0">
                <a:solidFill>
                  <a:schemeClr val="bg1"/>
                </a:solidFill>
              </a:rPr>
              <a:t>/transcripts/{</a:t>
            </a:r>
            <a:r>
              <a:rPr lang="en-US" sz="1575" dirty="0" err="1">
                <a:solidFill>
                  <a:schemeClr val="bg1"/>
                </a:solidFill>
              </a:rPr>
              <a:t>cust_id</a:t>
            </a:r>
            <a:r>
              <a:rPr lang="en-US" sz="1575" dirty="0">
                <a:solidFill>
                  <a:schemeClr val="bg1"/>
                </a:solidFill>
              </a:rPr>
              <a:t>}/{timestamp}.</a:t>
            </a:r>
            <a:r>
              <a:rPr lang="en-US" sz="1575" dirty="0" err="1">
                <a:solidFill>
                  <a:schemeClr val="bg1"/>
                </a:solidFill>
              </a:rPr>
              <a:t>json</a:t>
            </a:r>
            <a:r>
              <a:rPr lang="en-US" sz="1575" dirty="0">
                <a:solidFill>
                  <a:schemeClr val="bg1"/>
                </a:solidFill>
              </a:rPr>
              <a:t>/models/churn</a:t>
            </a:r>
          </a:p>
          <a:p>
            <a:r>
              <a:rPr lang="en-US" sz="1575" dirty="0">
                <a:solidFill>
                  <a:schemeClr val="bg1"/>
                </a:solidFill>
              </a:rPr>
              <a:t>/models/sentiment</a:t>
            </a:r>
          </a:p>
          <a:p>
            <a:endParaRPr lang="en-US" sz="1575" dirty="0">
              <a:solidFill>
                <a:schemeClr val="bg1"/>
              </a:solidFill>
            </a:endParaRPr>
          </a:p>
        </p:txBody>
      </p:sp>
      <p:cxnSp>
        <p:nvCxnSpPr>
          <p:cNvPr id="3" name="Elbow Connector 2">
            <a:extLst>
              <a:ext uri="{FF2B5EF4-FFF2-40B4-BE49-F238E27FC236}">
                <a16:creationId xmlns:a16="http://schemas.microsoft.com/office/drawing/2014/main" id="{E61251EE-1711-3896-49BF-7FC110A03F42}"/>
              </a:ext>
            </a:extLst>
          </p:cNvPr>
          <p:cNvCxnSpPr>
            <a:cxnSpLocks/>
            <a:endCxn id="1028" idx="0"/>
          </p:cNvCxnSpPr>
          <p:nvPr/>
        </p:nvCxnSpPr>
        <p:spPr>
          <a:xfrm>
            <a:off x="11549512" y="8053302"/>
            <a:ext cx="3869720" cy="91625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Elbow Connector 5">
            <a:extLst>
              <a:ext uri="{FF2B5EF4-FFF2-40B4-BE49-F238E27FC236}">
                <a16:creationId xmlns:a16="http://schemas.microsoft.com/office/drawing/2014/main" id="{88EA7A42-C2C7-E7BD-C067-13B9B17F1663}"/>
              </a:ext>
            </a:extLst>
          </p:cNvPr>
          <p:cNvCxnSpPr>
            <a:cxnSpLocks/>
            <a:stCxn id="1029" idx="3"/>
            <a:endCxn id="1024" idx="1"/>
          </p:cNvCxnSpPr>
          <p:nvPr/>
        </p:nvCxnSpPr>
        <p:spPr>
          <a:xfrm flipV="1">
            <a:off x="17184350" y="8805394"/>
            <a:ext cx="425598" cy="2098389"/>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Elbow Connector 17">
            <a:extLst>
              <a:ext uri="{FF2B5EF4-FFF2-40B4-BE49-F238E27FC236}">
                <a16:creationId xmlns:a16="http://schemas.microsoft.com/office/drawing/2014/main" id="{FA0FC256-7D4D-2572-ED58-CED0EACD42F2}"/>
              </a:ext>
            </a:extLst>
          </p:cNvPr>
          <p:cNvCxnSpPr>
            <a:cxnSpLocks/>
            <a:stCxn id="1024" idx="2"/>
            <a:endCxn id="35" idx="2"/>
          </p:cNvCxnSpPr>
          <p:nvPr/>
        </p:nvCxnSpPr>
        <p:spPr>
          <a:xfrm rot="5400000" flipH="1">
            <a:off x="11167311" y="2544646"/>
            <a:ext cx="2886726" cy="13847463"/>
          </a:xfrm>
          <a:prstGeom prst="bentConnector3">
            <a:avLst>
              <a:gd name="adj1" fmla="val -7919"/>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2F3C63FD-A0AB-A0DE-832A-A86D2B1597DC}"/>
              </a:ext>
            </a:extLst>
          </p:cNvPr>
          <p:cNvSpPr txBox="1"/>
          <p:nvPr/>
        </p:nvSpPr>
        <p:spPr>
          <a:xfrm>
            <a:off x="13841994" y="7748943"/>
            <a:ext cx="719043" cy="346249"/>
          </a:xfrm>
          <a:prstGeom prst="rect">
            <a:avLst/>
          </a:prstGeom>
          <a:noFill/>
        </p:spPr>
        <p:txBody>
          <a:bodyPr wrap="none" rtlCol="0">
            <a:spAutoFit/>
          </a:bodyPr>
          <a:lstStyle/>
          <a:p>
            <a:r>
              <a:rPr lang="en-US" sz="1650" dirty="0"/>
              <a:t>boto3</a:t>
            </a:r>
          </a:p>
        </p:txBody>
      </p:sp>
      <p:sp>
        <p:nvSpPr>
          <p:cNvPr id="30" name="TextBox 29">
            <a:extLst>
              <a:ext uri="{FF2B5EF4-FFF2-40B4-BE49-F238E27FC236}">
                <a16:creationId xmlns:a16="http://schemas.microsoft.com/office/drawing/2014/main" id="{E7262ACC-C8FA-A39A-4782-6C408BF31A78}"/>
              </a:ext>
            </a:extLst>
          </p:cNvPr>
          <p:cNvSpPr txBox="1"/>
          <p:nvPr/>
        </p:nvSpPr>
        <p:spPr>
          <a:xfrm>
            <a:off x="11346879" y="8727686"/>
            <a:ext cx="719043" cy="346249"/>
          </a:xfrm>
          <a:prstGeom prst="rect">
            <a:avLst/>
          </a:prstGeom>
          <a:noFill/>
        </p:spPr>
        <p:txBody>
          <a:bodyPr wrap="none" rtlCol="0">
            <a:spAutoFit/>
          </a:bodyPr>
          <a:lstStyle/>
          <a:p>
            <a:r>
              <a:rPr lang="en-US" sz="1650" dirty="0"/>
              <a:t>boto3</a:t>
            </a:r>
          </a:p>
        </p:txBody>
      </p:sp>
      <p:sp>
        <p:nvSpPr>
          <p:cNvPr id="31" name="TextBox 30">
            <a:extLst>
              <a:ext uri="{FF2B5EF4-FFF2-40B4-BE49-F238E27FC236}">
                <a16:creationId xmlns:a16="http://schemas.microsoft.com/office/drawing/2014/main" id="{BFAFCFE4-CB7A-C42D-35A7-B83D85FD14DD}"/>
              </a:ext>
            </a:extLst>
          </p:cNvPr>
          <p:cNvSpPr txBox="1"/>
          <p:nvPr/>
        </p:nvSpPr>
        <p:spPr>
          <a:xfrm>
            <a:off x="17132213" y="10903448"/>
            <a:ext cx="719043" cy="346249"/>
          </a:xfrm>
          <a:prstGeom prst="rect">
            <a:avLst/>
          </a:prstGeom>
          <a:noFill/>
        </p:spPr>
        <p:txBody>
          <a:bodyPr wrap="none" rtlCol="0">
            <a:spAutoFit/>
          </a:bodyPr>
          <a:lstStyle/>
          <a:p>
            <a:r>
              <a:rPr lang="en-US" sz="1650" dirty="0"/>
              <a:t>boto3</a:t>
            </a:r>
          </a:p>
        </p:txBody>
      </p:sp>
      <p:cxnSp>
        <p:nvCxnSpPr>
          <p:cNvPr id="40" name="Elbow Connector 39">
            <a:extLst>
              <a:ext uri="{FF2B5EF4-FFF2-40B4-BE49-F238E27FC236}">
                <a16:creationId xmlns:a16="http://schemas.microsoft.com/office/drawing/2014/main" id="{0329A74C-AA3A-FB9E-2F7A-441DA500A508}"/>
              </a:ext>
            </a:extLst>
          </p:cNvPr>
          <p:cNvCxnSpPr>
            <a:cxnSpLocks/>
            <a:endCxn id="62" idx="3"/>
          </p:cNvCxnSpPr>
          <p:nvPr/>
        </p:nvCxnSpPr>
        <p:spPr>
          <a:xfrm flipH="1">
            <a:off x="10560433" y="7844060"/>
            <a:ext cx="1069203" cy="3659322"/>
          </a:xfrm>
          <a:prstGeom prst="bentConnector3">
            <a:avLst>
              <a:gd name="adj1" fmla="val -100114"/>
            </a:avLst>
          </a:prstGeom>
          <a:ln>
            <a:tailEnd type="triangle"/>
          </a:ln>
        </p:spPr>
        <p:style>
          <a:lnRef idx="2">
            <a:schemeClr val="accent1"/>
          </a:lnRef>
          <a:fillRef idx="0">
            <a:schemeClr val="accent1"/>
          </a:fillRef>
          <a:effectRef idx="1">
            <a:schemeClr val="accent1"/>
          </a:effectRef>
          <a:fontRef idx="minor">
            <a:schemeClr val="tx1"/>
          </a:fontRef>
        </p:style>
      </p:cxnSp>
      <p:sp>
        <p:nvSpPr>
          <p:cNvPr id="1030" name="TextBox 1029">
            <a:extLst>
              <a:ext uri="{FF2B5EF4-FFF2-40B4-BE49-F238E27FC236}">
                <a16:creationId xmlns:a16="http://schemas.microsoft.com/office/drawing/2014/main" id="{C6F158C7-7508-14F0-00B1-2B7E8187DA6F}"/>
              </a:ext>
            </a:extLst>
          </p:cNvPr>
          <p:cNvSpPr txBox="1"/>
          <p:nvPr/>
        </p:nvSpPr>
        <p:spPr>
          <a:xfrm>
            <a:off x="3817441" y="9769643"/>
            <a:ext cx="3062270" cy="2516073"/>
          </a:xfrm>
          <a:prstGeom prst="rect">
            <a:avLst/>
          </a:prstGeom>
          <a:noFill/>
        </p:spPr>
        <p:txBody>
          <a:bodyPr wrap="square" rtlCol="0">
            <a:spAutoFit/>
          </a:bodyPr>
          <a:lstStyle/>
          <a:p>
            <a:r>
              <a:rPr lang="en-US" sz="1575" dirty="0">
                <a:solidFill>
                  <a:schemeClr val="bg1"/>
                </a:solidFill>
              </a:rPr>
              <a:t>Routes:</a:t>
            </a:r>
          </a:p>
          <a:p>
            <a:r>
              <a:rPr lang="en-US" sz="1575" dirty="0">
                <a:solidFill>
                  <a:schemeClr val="bg1"/>
                </a:solidFill>
              </a:rPr>
              <a:t>GET /customers</a:t>
            </a:r>
          </a:p>
          <a:p>
            <a:r>
              <a:rPr lang="en-US" sz="1575" dirty="0">
                <a:solidFill>
                  <a:schemeClr val="bg1"/>
                </a:solidFill>
              </a:rPr>
              <a:t>GET /customer-details/{id}</a:t>
            </a:r>
          </a:p>
          <a:p>
            <a:r>
              <a:rPr lang="en-US" sz="1575" dirty="0">
                <a:solidFill>
                  <a:schemeClr val="bg1"/>
                </a:solidFill>
              </a:rPr>
              <a:t>POST /transcribe (+ </a:t>
            </a:r>
            <a:r>
              <a:rPr lang="en-US" sz="1575" dirty="0" err="1">
                <a:solidFill>
                  <a:schemeClr val="bg1"/>
                </a:solidFill>
              </a:rPr>
              <a:t>customer_id</a:t>
            </a:r>
            <a:r>
              <a:rPr lang="en-US" sz="1575" dirty="0">
                <a:solidFill>
                  <a:schemeClr val="bg1"/>
                </a:solidFill>
              </a:rPr>
              <a:t>)</a:t>
            </a:r>
          </a:p>
          <a:p>
            <a:r>
              <a:rPr lang="en-US" sz="1575" dirty="0">
                <a:solidFill>
                  <a:schemeClr val="bg1"/>
                </a:solidFill>
              </a:rPr>
              <a:t>GET /transcripts</a:t>
            </a:r>
          </a:p>
          <a:p>
            <a:r>
              <a:rPr lang="en-US" sz="1575" dirty="0">
                <a:solidFill>
                  <a:schemeClr val="bg1"/>
                </a:solidFill>
              </a:rPr>
              <a:t>GET /transcripts/{name}</a:t>
            </a:r>
          </a:p>
          <a:p>
            <a:r>
              <a:rPr lang="en-US" sz="1575" dirty="0">
                <a:solidFill>
                  <a:schemeClr val="bg1"/>
                </a:solidFill>
              </a:rPr>
              <a:t>POST /predict</a:t>
            </a:r>
          </a:p>
          <a:p>
            <a:r>
              <a:rPr lang="en-US" sz="1575" dirty="0">
                <a:solidFill>
                  <a:schemeClr val="bg1"/>
                </a:solidFill>
              </a:rPr>
              <a:t>POST /save-transcript</a:t>
            </a:r>
          </a:p>
          <a:p>
            <a:r>
              <a:rPr lang="en-US" sz="1575" dirty="0">
                <a:solidFill>
                  <a:schemeClr val="bg1"/>
                </a:solidFill>
              </a:rPr>
              <a:t>GET /high-risk</a:t>
            </a:r>
          </a:p>
          <a:p>
            <a:r>
              <a:rPr lang="en-US" sz="1575" dirty="0">
                <a:solidFill>
                  <a:schemeClr val="bg1"/>
                </a:solidFill>
              </a:rPr>
              <a:t>GET /health</a:t>
            </a:r>
          </a:p>
        </p:txBody>
      </p:sp>
      <p:sp>
        <p:nvSpPr>
          <p:cNvPr id="1031" name="TextBox 1030">
            <a:extLst>
              <a:ext uri="{FF2B5EF4-FFF2-40B4-BE49-F238E27FC236}">
                <a16:creationId xmlns:a16="http://schemas.microsoft.com/office/drawing/2014/main" id="{83790A91-5A0B-B5D1-C1D8-AC5ACDE15009}"/>
              </a:ext>
            </a:extLst>
          </p:cNvPr>
          <p:cNvSpPr txBox="1"/>
          <p:nvPr/>
        </p:nvSpPr>
        <p:spPr>
          <a:xfrm>
            <a:off x="6980003" y="9443703"/>
            <a:ext cx="2359913" cy="611706"/>
          </a:xfrm>
          <a:prstGeom prst="rect">
            <a:avLst/>
          </a:prstGeom>
          <a:noFill/>
        </p:spPr>
        <p:txBody>
          <a:bodyPr wrap="square" rtlCol="0">
            <a:spAutoFit/>
          </a:bodyPr>
          <a:lstStyle/>
          <a:p>
            <a:r>
              <a:rPr lang="en-US" sz="1800" b="1" dirty="0">
                <a:solidFill>
                  <a:schemeClr val="bg1"/>
                </a:solidFill>
              </a:rPr>
              <a:t>Churn Predictor API</a:t>
            </a:r>
            <a:endParaRPr lang="en-US" sz="1800" dirty="0">
              <a:solidFill>
                <a:schemeClr val="bg1"/>
              </a:solidFill>
            </a:endParaRPr>
          </a:p>
          <a:p>
            <a:pPr algn="r"/>
            <a:r>
              <a:rPr lang="en-US" sz="1575" dirty="0" err="1">
                <a:solidFill>
                  <a:schemeClr val="bg1"/>
                </a:solidFill>
              </a:rPr>
              <a:t>FastAPI</a:t>
            </a:r>
            <a:r>
              <a:rPr lang="en-US" sz="1575" dirty="0">
                <a:solidFill>
                  <a:schemeClr val="bg1"/>
                </a:solidFill>
              </a:rPr>
              <a:t> :8001</a:t>
            </a:r>
          </a:p>
        </p:txBody>
      </p:sp>
      <p:sp>
        <p:nvSpPr>
          <p:cNvPr id="1039" name="TextBox 1038">
            <a:extLst>
              <a:ext uri="{FF2B5EF4-FFF2-40B4-BE49-F238E27FC236}">
                <a16:creationId xmlns:a16="http://schemas.microsoft.com/office/drawing/2014/main" id="{63096B3D-A534-319E-6BF2-450486B318AE}"/>
              </a:ext>
            </a:extLst>
          </p:cNvPr>
          <p:cNvSpPr txBox="1"/>
          <p:nvPr/>
        </p:nvSpPr>
        <p:spPr>
          <a:xfrm>
            <a:off x="12014339" y="10252871"/>
            <a:ext cx="719043" cy="346249"/>
          </a:xfrm>
          <a:prstGeom prst="rect">
            <a:avLst/>
          </a:prstGeom>
          <a:noFill/>
        </p:spPr>
        <p:txBody>
          <a:bodyPr wrap="none" rtlCol="0">
            <a:spAutoFit/>
          </a:bodyPr>
          <a:lstStyle/>
          <a:p>
            <a:r>
              <a:rPr lang="en-US" sz="1650" dirty="0"/>
              <a:t>boto3</a:t>
            </a:r>
          </a:p>
        </p:txBody>
      </p:sp>
      <p:sp>
        <p:nvSpPr>
          <p:cNvPr id="1040" name="TextBox 1039">
            <a:extLst>
              <a:ext uri="{FF2B5EF4-FFF2-40B4-BE49-F238E27FC236}">
                <a16:creationId xmlns:a16="http://schemas.microsoft.com/office/drawing/2014/main" id="{0A6E3D8B-6D92-D03F-B5FD-19F741668F55}"/>
              </a:ext>
            </a:extLst>
          </p:cNvPr>
          <p:cNvSpPr txBox="1"/>
          <p:nvPr/>
        </p:nvSpPr>
        <p:spPr>
          <a:xfrm>
            <a:off x="7274525" y="8922949"/>
            <a:ext cx="719043" cy="346249"/>
          </a:xfrm>
          <a:prstGeom prst="rect">
            <a:avLst/>
          </a:prstGeom>
          <a:noFill/>
        </p:spPr>
        <p:txBody>
          <a:bodyPr wrap="none" rtlCol="0">
            <a:spAutoFit/>
          </a:bodyPr>
          <a:lstStyle/>
          <a:p>
            <a:r>
              <a:rPr lang="en-US" sz="1650" dirty="0"/>
              <a:t>boto3</a:t>
            </a:r>
          </a:p>
        </p:txBody>
      </p:sp>
      <p:cxnSp>
        <p:nvCxnSpPr>
          <p:cNvPr id="1041" name="Elbow Connector 1040">
            <a:extLst>
              <a:ext uri="{FF2B5EF4-FFF2-40B4-BE49-F238E27FC236}">
                <a16:creationId xmlns:a16="http://schemas.microsoft.com/office/drawing/2014/main" id="{22543B28-3A65-D9F1-98F1-749F31BFB9B6}"/>
              </a:ext>
            </a:extLst>
          </p:cNvPr>
          <p:cNvCxnSpPr>
            <a:cxnSpLocks/>
            <a:stCxn id="1029" idx="1"/>
          </p:cNvCxnSpPr>
          <p:nvPr/>
        </p:nvCxnSpPr>
        <p:spPr>
          <a:xfrm rot="10800000" flipV="1">
            <a:off x="5421616" y="10903782"/>
            <a:ext cx="8197623" cy="39426"/>
          </a:xfrm>
          <a:prstGeom prst="bentConnector3">
            <a:avLst>
              <a:gd name="adj1" fmla="val 50177"/>
            </a:avLst>
          </a:prstGeom>
          <a:ln>
            <a:tailEnd type="triangle"/>
          </a:ln>
        </p:spPr>
        <p:style>
          <a:lnRef idx="2">
            <a:schemeClr val="accent1"/>
          </a:lnRef>
          <a:fillRef idx="0">
            <a:schemeClr val="accent1"/>
          </a:fillRef>
          <a:effectRef idx="1">
            <a:schemeClr val="accent1"/>
          </a:effectRef>
          <a:fontRef idx="minor">
            <a:schemeClr val="tx1"/>
          </a:fontRef>
        </p:style>
      </p:cxnSp>
      <p:sp>
        <p:nvSpPr>
          <p:cNvPr id="1049" name="Rectangle 1048">
            <a:extLst>
              <a:ext uri="{FF2B5EF4-FFF2-40B4-BE49-F238E27FC236}">
                <a16:creationId xmlns:a16="http://schemas.microsoft.com/office/drawing/2014/main" id="{1480FFF5-CF41-5244-AAAA-95CFB9A7D59B}"/>
              </a:ext>
            </a:extLst>
          </p:cNvPr>
          <p:cNvSpPr/>
          <p:nvPr/>
        </p:nvSpPr>
        <p:spPr>
          <a:xfrm>
            <a:off x="13203420" y="14042616"/>
            <a:ext cx="3807385" cy="1593876"/>
          </a:xfrm>
          <a:prstGeom prst="rect">
            <a:avLst/>
          </a:prstGeom>
          <a:noFill/>
          <a:ln w="15875">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a:defRPr/>
            </a:pPr>
            <a:r>
              <a:rPr lang="en-US" sz="1200" dirty="0">
                <a:ln w="0"/>
                <a:solidFill>
                  <a:schemeClr val="tx1"/>
                </a:solidFill>
                <a:latin typeface="Arial" panose="020B0604020202020204" pitchFamily="34" charset="0"/>
                <a:cs typeface="Arial" panose="020B0604020202020204" pitchFamily="34" charset="0"/>
              </a:rPr>
              <a:t>AWS Transcribe</a:t>
            </a:r>
          </a:p>
        </p:txBody>
      </p:sp>
      <p:pic>
        <p:nvPicPr>
          <p:cNvPr id="1050" name="Graphic 1049" descr="Graphic icon.">
            <a:extLst>
              <a:ext uri="{FF2B5EF4-FFF2-40B4-BE49-F238E27FC236}">
                <a16:creationId xmlns:a16="http://schemas.microsoft.com/office/drawing/2014/main" id="{320290ED-F30B-131F-D812-BB8EA4D63E8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3203420" y="14041042"/>
            <a:ext cx="381000" cy="381000"/>
          </a:xfrm>
          <a:prstGeom prst="rect">
            <a:avLst/>
          </a:prstGeom>
        </p:spPr>
      </p:pic>
      <p:pic>
        <p:nvPicPr>
          <p:cNvPr id="1053" name="Graphic 13" descr="Lambda function resource icon for the AWS Lambda service icon.">
            <a:extLst>
              <a:ext uri="{FF2B5EF4-FFF2-40B4-BE49-F238E27FC236}">
                <a16:creationId xmlns:a16="http://schemas.microsoft.com/office/drawing/2014/main" id="{B760271F-0090-5B22-1D5D-FC43A43D2555}"/>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13744314" y="1442092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 name="TextBox 1053">
            <a:extLst>
              <a:ext uri="{FF2B5EF4-FFF2-40B4-BE49-F238E27FC236}">
                <a16:creationId xmlns:a16="http://schemas.microsoft.com/office/drawing/2014/main" id="{AD585A27-5FBD-354D-F063-46A7F27E12B0}"/>
              </a:ext>
            </a:extLst>
          </p:cNvPr>
          <p:cNvSpPr txBox="1"/>
          <p:nvPr/>
        </p:nvSpPr>
        <p:spPr>
          <a:xfrm>
            <a:off x="14177570" y="14511025"/>
            <a:ext cx="2726259" cy="276999"/>
          </a:xfrm>
          <a:prstGeom prst="rect">
            <a:avLst/>
          </a:prstGeom>
          <a:noFill/>
        </p:spPr>
        <p:txBody>
          <a:bodyPr wrap="none" rtlCol="0">
            <a:spAutoFit/>
          </a:bodyPr>
          <a:lstStyle/>
          <a:p>
            <a:r>
              <a:rPr lang="en-US" sz="1200" dirty="0"/>
              <a:t>Lambda: retention-transcribe-pipeline</a:t>
            </a:r>
          </a:p>
        </p:txBody>
      </p:sp>
      <p:sp>
        <p:nvSpPr>
          <p:cNvPr id="1055" name="TextBox 1054">
            <a:extLst>
              <a:ext uri="{FF2B5EF4-FFF2-40B4-BE49-F238E27FC236}">
                <a16:creationId xmlns:a16="http://schemas.microsoft.com/office/drawing/2014/main" id="{465BC372-C0E9-A147-6C84-C7A2AA04BBC3}"/>
              </a:ext>
            </a:extLst>
          </p:cNvPr>
          <p:cNvSpPr txBox="1"/>
          <p:nvPr/>
        </p:nvSpPr>
        <p:spPr>
          <a:xfrm>
            <a:off x="14267078" y="14889093"/>
            <a:ext cx="2294539" cy="646331"/>
          </a:xfrm>
          <a:prstGeom prst="rect">
            <a:avLst/>
          </a:prstGeom>
          <a:noFill/>
        </p:spPr>
        <p:txBody>
          <a:bodyPr wrap="none" rtlCol="0">
            <a:spAutoFit/>
          </a:bodyPr>
          <a:lstStyle/>
          <a:p>
            <a:r>
              <a:rPr lang="en-US" sz="1200" dirty="0"/>
              <a:t>Transcribe Job</a:t>
            </a:r>
          </a:p>
          <a:p>
            <a:r>
              <a:rPr lang="en-US" sz="1200" dirty="0"/>
              <a:t>Speaker </a:t>
            </a:r>
            <a:r>
              <a:rPr lang="en-US" sz="1200" dirty="0" err="1"/>
              <a:t>diarization</a:t>
            </a:r>
            <a:r>
              <a:rPr lang="en-US" sz="1200" dirty="0"/>
              <a:t> (2 speakers)</a:t>
            </a:r>
          </a:p>
          <a:p>
            <a:r>
              <a:rPr lang="en-US" sz="1200" dirty="0"/>
              <a:t>Output: S3 transcripts/{</a:t>
            </a:r>
            <a:r>
              <a:rPr lang="en-US" sz="1200" dirty="0" err="1"/>
              <a:t>cid</a:t>
            </a:r>
            <a:r>
              <a:rPr lang="en-US" sz="1200" dirty="0"/>
              <a:t>}</a:t>
            </a:r>
          </a:p>
        </p:txBody>
      </p:sp>
      <p:cxnSp>
        <p:nvCxnSpPr>
          <p:cNvPr id="1056" name="Elbow Connector 1055">
            <a:extLst>
              <a:ext uri="{FF2B5EF4-FFF2-40B4-BE49-F238E27FC236}">
                <a16:creationId xmlns:a16="http://schemas.microsoft.com/office/drawing/2014/main" id="{09183D85-4E41-754C-2829-03DACFEB6A9E}"/>
              </a:ext>
            </a:extLst>
          </p:cNvPr>
          <p:cNvCxnSpPr>
            <a:cxnSpLocks/>
            <a:stCxn id="1055" idx="3"/>
            <a:endCxn id="1028" idx="2"/>
          </p:cNvCxnSpPr>
          <p:nvPr/>
        </p:nvCxnSpPr>
        <p:spPr>
          <a:xfrm flipH="1" flipV="1">
            <a:off x="15419232" y="12661818"/>
            <a:ext cx="1142384" cy="2550440"/>
          </a:xfrm>
          <a:prstGeom prst="bentConnector4">
            <a:avLst>
              <a:gd name="adj1" fmla="val -80043"/>
              <a:gd name="adj2" fmla="val 563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2" name="Elbow Connector 1061">
            <a:extLst>
              <a:ext uri="{FF2B5EF4-FFF2-40B4-BE49-F238E27FC236}">
                <a16:creationId xmlns:a16="http://schemas.microsoft.com/office/drawing/2014/main" id="{38D11961-D7ED-01DB-7A41-FBA240978093}"/>
              </a:ext>
            </a:extLst>
          </p:cNvPr>
          <p:cNvCxnSpPr>
            <a:cxnSpLocks/>
            <a:stCxn id="17" idx="2"/>
            <a:endCxn id="1049" idx="1"/>
          </p:cNvCxnSpPr>
          <p:nvPr/>
        </p:nvCxnSpPr>
        <p:spPr>
          <a:xfrm rot="5400000">
            <a:off x="9222460" y="9073451"/>
            <a:ext cx="9747062" cy="1785144"/>
          </a:xfrm>
          <a:prstGeom prst="bentConnector4">
            <a:avLst>
              <a:gd name="adj1" fmla="val 38215"/>
              <a:gd name="adj2" fmla="val 112806"/>
            </a:avLst>
          </a:prstGeom>
          <a:ln>
            <a:tailEnd type="triangle"/>
          </a:ln>
        </p:spPr>
        <p:style>
          <a:lnRef idx="2">
            <a:schemeClr val="accent1"/>
          </a:lnRef>
          <a:fillRef idx="0">
            <a:schemeClr val="accent1"/>
          </a:fillRef>
          <a:effectRef idx="1">
            <a:schemeClr val="accent1"/>
          </a:effectRef>
          <a:fontRef idx="minor">
            <a:schemeClr val="tx1"/>
          </a:fontRef>
        </p:style>
      </p:cxnSp>
      <p:sp>
        <p:nvSpPr>
          <p:cNvPr id="1066" name="TextBox 1065">
            <a:extLst>
              <a:ext uri="{FF2B5EF4-FFF2-40B4-BE49-F238E27FC236}">
                <a16:creationId xmlns:a16="http://schemas.microsoft.com/office/drawing/2014/main" id="{A5203157-EC6F-A7E5-BDF8-5DC2F6BA025B}"/>
              </a:ext>
            </a:extLst>
          </p:cNvPr>
          <p:cNvSpPr txBox="1"/>
          <p:nvPr/>
        </p:nvSpPr>
        <p:spPr>
          <a:xfrm>
            <a:off x="14252300" y="6541472"/>
            <a:ext cx="719043" cy="346249"/>
          </a:xfrm>
          <a:prstGeom prst="rect">
            <a:avLst/>
          </a:prstGeom>
          <a:noFill/>
        </p:spPr>
        <p:txBody>
          <a:bodyPr wrap="none" rtlCol="0">
            <a:spAutoFit/>
          </a:bodyPr>
          <a:lstStyle/>
          <a:p>
            <a:r>
              <a:rPr lang="en-US" sz="1650" dirty="0"/>
              <a:t>boto3</a:t>
            </a:r>
          </a:p>
        </p:txBody>
      </p:sp>
      <p:pic>
        <p:nvPicPr>
          <p:cNvPr id="1047" name="Graphic 20" descr="Amazon Transcribe service icon.">
            <a:extLst>
              <a:ext uri="{FF2B5EF4-FFF2-40B4-BE49-F238E27FC236}">
                <a16:creationId xmlns:a16="http://schemas.microsoft.com/office/drawing/2014/main" id="{CF8007A7-D1C4-1560-C938-7E0BAA0DEC03}"/>
              </a:ext>
            </a:extLst>
          </p:cNvPr>
          <p:cNvPicPr>
            <a:picLocks noChangeAspect="1" noChangeArrowheads="1"/>
          </p:cNvPicPr>
          <p:nvPr/>
        </p:nvPicPr>
        <p:blipFill>
          <a:blip>
            <a:extLst>
              <a:ext uri="{96DAC541-7B7A-43D3-8B79-37D633B846F1}">
                <asvg:svgBlip xmlns:asvg="http://schemas.microsoft.com/office/drawing/2016/SVG/main" r:embed="rId8"/>
              </a:ext>
            </a:extLst>
          </a:blip>
          <a:srcRect/>
          <a:stretch/>
        </p:blipFill>
        <p:spPr bwMode="auto">
          <a:xfrm>
            <a:off x="13226830" y="14036909"/>
            <a:ext cx="394900" cy="39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7" name="Graphic 23" descr="Amazon Elastic Kubernetes Service (Amazon EKS) Service icon.">
            <a:extLst>
              <a:ext uri="{FF2B5EF4-FFF2-40B4-BE49-F238E27FC236}">
                <a16:creationId xmlns:a16="http://schemas.microsoft.com/office/drawing/2014/main" id="{C5BC904F-03FF-4703-F54D-B1C9D00B5BC2}"/>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3406859" y="906999"/>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8" name="TextBox 9">
            <a:extLst>
              <a:ext uri="{FF2B5EF4-FFF2-40B4-BE49-F238E27FC236}">
                <a16:creationId xmlns:a16="http://schemas.microsoft.com/office/drawing/2014/main" id="{27054C48-6ED2-1868-4972-724A2F8575BB}"/>
              </a:ext>
            </a:extLst>
          </p:cNvPr>
          <p:cNvSpPr txBox="1">
            <a:spLocks noChangeArrowheads="1"/>
          </p:cNvSpPr>
          <p:nvPr/>
        </p:nvSpPr>
        <p:spPr bwMode="auto">
          <a:xfrm>
            <a:off x="3842682" y="995036"/>
            <a:ext cx="431727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Arial" panose="020B0604020202020204" pitchFamily="34" charset="0"/>
                <a:ea typeface="Amazon Ember" panose="020B0603020204020204" pitchFamily="34" charset="0"/>
                <a:cs typeface="Arial" panose="020B0604020202020204" pitchFamily="34" charset="0"/>
              </a:rPr>
              <a:t>Amazon Elastic Kubernetes Service (Amazon EKS)</a:t>
            </a:r>
          </a:p>
        </p:txBody>
      </p:sp>
      <p:sp>
        <p:nvSpPr>
          <p:cNvPr id="1070" name="Rectangle 1069">
            <a:extLst>
              <a:ext uri="{FF2B5EF4-FFF2-40B4-BE49-F238E27FC236}">
                <a16:creationId xmlns:a16="http://schemas.microsoft.com/office/drawing/2014/main" id="{6C89350C-9B02-CB35-DF26-7F5A36211736}"/>
              </a:ext>
            </a:extLst>
          </p:cNvPr>
          <p:cNvSpPr/>
          <p:nvPr/>
        </p:nvSpPr>
        <p:spPr>
          <a:xfrm>
            <a:off x="3410798" y="906999"/>
            <a:ext cx="17967111" cy="15411366"/>
          </a:xfrm>
          <a:prstGeom prst="rect">
            <a:avLst/>
          </a:prstGeom>
          <a:noFill/>
          <a:ln w="15875">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a:defRPr/>
            </a:pPr>
            <a:endParaRPr lang="en-US" sz="1200" dirty="0">
              <a:solidFill>
                <a:schemeClr val="tx1"/>
              </a:solidFill>
              <a:latin typeface="Arial" panose="020B0604020202020204" pitchFamily="34" charset="0"/>
              <a:cs typeface="Arial" panose="020B0604020202020204" pitchFamily="34" charset="0"/>
            </a:endParaRPr>
          </a:p>
        </p:txBody>
      </p:sp>
      <p:pic>
        <p:nvPicPr>
          <p:cNvPr id="1074" name="Picture 2" descr="The central tooling account contains the CodeCommit Terraform infra repo, where DevOps engineer has git access, along with the pipeline trigger, the CodePipeline dev pipeline consisting of the S3 bucket with Terraform infra repo and git tag, CodeBuild terraform tflint scan, checkov scan, plan and apply. Terraform apply points using the cross account role to VPC containing an Application Load Balancer (ALB) in eu-central-1 in the dev target workload account. A qa pipeline, a staging pipeline, a prod pipeline are included along with a qa target workload account, a staging target workload account, a prod target workload account. EventBridge, Key Management Service, CloudTrail, CloudWatch in us-east-1 Region are in the central tooling account along with Identity Access Management service. In addition, the dev target workload account contains us-east-1 and ap-southeast-1 VPC’s each with an ALB as well as Identity Access Management.">
            <a:extLst>
              <a:ext uri="{FF2B5EF4-FFF2-40B4-BE49-F238E27FC236}">
                <a16:creationId xmlns:a16="http://schemas.microsoft.com/office/drawing/2014/main" id="{014246DD-6952-5D97-AEB0-6BEF4F8AE22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937244" y="4558049"/>
            <a:ext cx="20358100" cy="16268700"/>
          </a:xfrm>
          <a:prstGeom prst="rect">
            <a:avLst/>
          </a:prstGeom>
          <a:noFill/>
          <a:extLst>
            <a:ext uri="{909E8E84-426E-40DD-AFC4-6F175D3DCCD1}">
              <a14:hiddenFill xmlns:a14="http://schemas.microsoft.com/office/drawing/2010/main">
                <a:solidFill>
                  <a:srgbClr val="FFFFFF"/>
                </a:solidFill>
              </a14:hiddenFill>
            </a:ext>
          </a:extLst>
        </p:spPr>
      </p:pic>
      <p:pic>
        <p:nvPicPr>
          <p:cNvPr id="1075" name="Picture 1074">
            <a:extLst>
              <a:ext uri="{FF2B5EF4-FFF2-40B4-BE49-F238E27FC236}">
                <a16:creationId xmlns:a16="http://schemas.microsoft.com/office/drawing/2014/main" id="{CA0E2FB4-5B2F-EBC8-A8AE-E2DBE0BB14E1}"/>
              </a:ext>
            </a:extLst>
          </p:cNvPr>
          <p:cNvPicPr>
            <a:picLocks noChangeAspect="1"/>
          </p:cNvPicPr>
          <p:nvPr/>
        </p:nvPicPr>
        <p:blipFill>
          <a:blip r:embed="rId11"/>
          <a:srcRect t="60508"/>
          <a:stretch>
            <a:fillRect/>
          </a:stretch>
        </p:blipFill>
        <p:spPr>
          <a:xfrm>
            <a:off x="1304849" y="16744264"/>
            <a:ext cx="11658600" cy="3385894"/>
          </a:xfrm>
          <a:prstGeom prst="rect">
            <a:avLst/>
          </a:prstGeom>
        </p:spPr>
      </p:pic>
      <p:pic>
        <p:nvPicPr>
          <p:cNvPr id="1076" name="Picture 1075">
            <a:extLst>
              <a:ext uri="{FF2B5EF4-FFF2-40B4-BE49-F238E27FC236}">
                <a16:creationId xmlns:a16="http://schemas.microsoft.com/office/drawing/2014/main" id="{8B152C8F-B830-6EAA-2A52-D11A9FA54F77}"/>
              </a:ext>
            </a:extLst>
          </p:cNvPr>
          <p:cNvPicPr>
            <a:picLocks noChangeAspect="1"/>
          </p:cNvPicPr>
          <p:nvPr/>
        </p:nvPicPr>
        <p:blipFill>
          <a:blip r:embed="rId12"/>
          <a:stretch>
            <a:fillRect/>
          </a:stretch>
        </p:blipFill>
        <p:spPr>
          <a:xfrm>
            <a:off x="1361292" y="20517044"/>
            <a:ext cx="11658600" cy="5317958"/>
          </a:xfrm>
          <a:prstGeom prst="rect">
            <a:avLst/>
          </a:prstGeom>
        </p:spPr>
      </p:pic>
    </p:spTree>
    <p:extLst>
      <p:ext uri="{BB962C8B-B14F-4D97-AF65-F5344CB8AC3E}">
        <p14:creationId xmlns:p14="http://schemas.microsoft.com/office/powerpoint/2010/main" val="907276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FC306-4E3D-AAA0-6B9C-BDE07D1102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38C366-BD03-9BBD-25C0-D6797B390E1A}"/>
              </a:ext>
            </a:extLst>
          </p:cNvPr>
          <p:cNvPicPr>
            <a:picLocks noChangeAspect="1"/>
          </p:cNvPicPr>
          <p:nvPr/>
        </p:nvPicPr>
        <p:blipFill>
          <a:blip r:embed="rId2"/>
          <a:stretch>
            <a:fillRect/>
          </a:stretch>
        </p:blipFill>
        <p:spPr>
          <a:xfrm>
            <a:off x="13944600" y="1096626"/>
            <a:ext cx="7772400" cy="5731548"/>
          </a:xfrm>
          <a:prstGeom prst="rect">
            <a:avLst/>
          </a:prstGeom>
        </p:spPr>
      </p:pic>
      <p:pic>
        <p:nvPicPr>
          <p:cNvPr id="6" name="Picture 5">
            <a:extLst>
              <a:ext uri="{FF2B5EF4-FFF2-40B4-BE49-F238E27FC236}">
                <a16:creationId xmlns:a16="http://schemas.microsoft.com/office/drawing/2014/main" id="{C6FDA687-A2C4-0444-C581-16262571B87B}"/>
              </a:ext>
            </a:extLst>
          </p:cNvPr>
          <p:cNvPicPr>
            <a:picLocks noChangeAspect="1"/>
          </p:cNvPicPr>
          <p:nvPr/>
        </p:nvPicPr>
        <p:blipFill>
          <a:blip r:embed="rId3"/>
          <a:stretch>
            <a:fillRect/>
          </a:stretch>
        </p:blipFill>
        <p:spPr>
          <a:xfrm>
            <a:off x="13944600" y="6828174"/>
            <a:ext cx="7772400" cy="5964204"/>
          </a:xfrm>
          <a:prstGeom prst="rect">
            <a:avLst/>
          </a:prstGeom>
        </p:spPr>
      </p:pic>
      <p:pic>
        <p:nvPicPr>
          <p:cNvPr id="7" name="Picture 6">
            <a:extLst>
              <a:ext uri="{FF2B5EF4-FFF2-40B4-BE49-F238E27FC236}">
                <a16:creationId xmlns:a16="http://schemas.microsoft.com/office/drawing/2014/main" id="{DE91CBDC-35FD-806B-9361-553F2CECB304}"/>
              </a:ext>
            </a:extLst>
          </p:cNvPr>
          <p:cNvPicPr>
            <a:picLocks noChangeAspect="1"/>
          </p:cNvPicPr>
          <p:nvPr/>
        </p:nvPicPr>
        <p:blipFill>
          <a:blip r:embed="rId4"/>
          <a:stretch>
            <a:fillRect/>
          </a:stretch>
        </p:blipFill>
        <p:spPr>
          <a:xfrm>
            <a:off x="13944600" y="12833956"/>
            <a:ext cx="7772400" cy="6002918"/>
          </a:xfrm>
          <a:prstGeom prst="rect">
            <a:avLst/>
          </a:prstGeom>
        </p:spPr>
      </p:pic>
      <p:pic>
        <p:nvPicPr>
          <p:cNvPr id="8" name="Picture 7">
            <a:extLst>
              <a:ext uri="{FF2B5EF4-FFF2-40B4-BE49-F238E27FC236}">
                <a16:creationId xmlns:a16="http://schemas.microsoft.com/office/drawing/2014/main" id="{AAF17E1C-D9BD-41D0-05E9-E7F5DE796B40}"/>
              </a:ext>
            </a:extLst>
          </p:cNvPr>
          <p:cNvPicPr>
            <a:picLocks noChangeAspect="1"/>
          </p:cNvPicPr>
          <p:nvPr/>
        </p:nvPicPr>
        <p:blipFill>
          <a:blip r:embed="rId5"/>
          <a:stretch>
            <a:fillRect/>
          </a:stretch>
        </p:blipFill>
        <p:spPr>
          <a:xfrm>
            <a:off x="13944600" y="18776852"/>
            <a:ext cx="7772400" cy="5486400"/>
          </a:xfrm>
          <a:prstGeom prst="rect">
            <a:avLst/>
          </a:prstGeom>
        </p:spPr>
      </p:pic>
    </p:spTree>
    <p:extLst>
      <p:ext uri="{BB962C8B-B14F-4D97-AF65-F5344CB8AC3E}">
        <p14:creationId xmlns:p14="http://schemas.microsoft.com/office/powerpoint/2010/main" val="2161954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23711-F975-BF58-8224-5229ED87AF0C}"/>
            </a:ext>
          </a:extLst>
        </p:cNvPr>
        <p:cNvGrpSpPr/>
        <p:nvPr/>
      </p:nvGrpSpPr>
      <p:grpSpPr>
        <a:xfrm>
          <a:off x="0" y="0"/>
          <a:ext cx="0" cy="0"/>
          <a:chOff x="0" y="0"/>
          <a:chExt cx="0" cy="0"/>
        </a:xfrm>
      </p:grpSpPr>
    </p:spTree>
    <p:extLst>
      <p:ext uri="{BB962C8B-B14F-4D97-AF65-F5344CB8AC3E}">
        <p14:creationId xmlns:p14="http://schemas.microsoft.com/office/powerpoint/2010/main" val="1267377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DBE17-D64E-7572-E758-135966DECEE2}"/>
              </a:ext>
            </a:extLst>
          </p:cNvPr>
          <p:cNvSpPr>
            <a:spLocks noGrp="1"/>
          </p:cNvSpPr>
          <p:nvPr>
            <p:ph type="title"/>
          </p:nvPr>
        </p:nvSpPr>
        <p:spPr>
          <a:xfrm>
            <a:off x="1391077" y="3095441"/>
            <a:ext cx="16417556" cy="1700784"/>
          </a:xfrm>
        </p:spPr>
        <p:txBody>
          <a:bodyPr anchor="t">
            <a:normAutofit fontScale="90000"/>
          </a:bodyPr>
          <a:lstStyle/>
          <a:p>
            <a:r>
              <a:rPr lang="en-US"/>
              <a:t>Potential Upgrades</a:t>
            </a:r>
            <a:endParaRPr lang="en-US" dirty="0"/>
          </a:p>
        </p:txBody>
      </p:sp>
      <p:graphicFrame>
        <p:nvGraphicFramePr>
          <p:cNvPr id="5" name="Content Placeholder 4">
            <a:extLst>
              <a:ext uri="{FF2B5EF4-FFF2-40B4-BE49-F238E27FC236}">
                <a16:creationId xmlns:a16="http://schemas.microsoft.com/office/drawing/2014/main" id="{15719AEF-1425-4D7F-8D7B-375EB2432DFE}"/>
              </a:ext>
            </a:extLst>
          </p:cNvPr>
          <p:cNvGraphicFramePr>
            <a:graphicFrameLocks noGrp="1"/>
          </p:cNvGraphicFramePr>
          <p:nvPr>
            <p:ph idx="1"/>
            <p:extLst>
              <p:ext uri="{D42A27DB-BD31-4B8C-83A1-F6EECF244321}">
                <p14:modId xmlns:p14="http://schemas.microsoft.com/office/powerpoint/2010/main" val="1077561055"/>
              </p:ext>
              <p:ext uri="{E7BDC344-281C-4309-B0C6-D0EE65EED2A8}">
                <p202:designPr xmlns:p202="http://schemas.microsoft.com/office/powerpoint/2020/02/main">
                  <p202:designTagLst>
                    <p202:designTag name="ARCH:1:CLS" val="StackedSequentialContentTable"/>
                  </p202:designTagLst>
                </p202:designPr>
              </p:ext>
            </p:extLst>
          </p:nvPr>
        </p:nvGraphicFramePr>
        <p:xfrm>
          <a:off x="9599855" y="10000454"/>
          <a:ext cx="17242211" cy="8544906"/>
        </p:xfrm>
        <a:graphic>
          <a:graphicData uri="http://schemas.openxmlformats.org/drawingml/2006/table">
            <a:tbl>
              <a:tblPr firstRow="1" bandRow="1">
                <a:noFill/>
                <a:tableStyleId>{5C22544A-7EE6-4342-B048-85BDC9FD1C3A}</a:tableStyleId>
              </a:tblPr>
              <a:tblGrid>
                <a:gridCol w="1380321">
                  <a:extLst>
                    <a:ext uri="{9D8B030D-6E8A-4147-A177-3AD203B41FA5}">
                      <a16:colId xmlns:a16="http://schemas.microsoft.com/office/drawing/2014/main" val="3171376614"/>
                    </a:ext>
                  </a:extLst>
                </a:gridCol>
                <a:gridCol w="15861890">
                  <a:extLst>
                    <a:ext uri="{9D8B030D-6E8A-4147-A177-3AD203B41FA5}">
                      <a16:colId xmlns:a16="http://schemas.microsoft.com/office/drawing/2014/main" val="2700101339"/>
                    </a:ext>
                  </a:extLst>
                </a:gridCol>
              </a:tblGrid>
              <a:tr h="2634942">
                <a:tc>
                  <a:txBody>
                    <a:bodyPr/>
                    <a:lstStyle/>
                    <a:p>
                      <a:pPr algn="ctr">
                        <a:buNone/>
                      </a:pPr>
                      <a:r>
                        <a:rPr lang="en-US" sz="4700" b="1" cap="none" spc="0">
                          <a:solidFill>
                            <a:schemeClr val="tx1"/>
                          </a:solidFill>
                          <a:effectLst/>
                        </a:rPr>
                        <a:t>1</a:t>
                      </a:r>
                    </a:p>
                  </a:txBody>
                  <a:tcPr marL="197331" marR="197331" marT="197331" marB="19733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r>
                        <a:rPr lang="en-US" sz="2100" b="1" i="0" kern="1200">
                          <a:solidFill>
                            <a:schemeClr val="tx1"/>
                          </a:solidFill>
                          <a:effectLst/>
                          <a:latin typeface="+mn-lt"/>
                          <a:ea typeface="+mn-ea"/>
                          <a:cs typeface="+mn-cs"/>
                        </a:rPr>
                        <a:t>Historical Sentiment Trending &amp; Cross-Call Analysis</a:t>
                      </a:r>
                      <a:br>
                        <a:rPr lang="en-US" sz="2100" b="0" cap="none" spc="0">
                          <a:solidFill>
                            <a:schemeClr val="tx1"/>
                          </a:solidFill>
                        </a:rPr>
                      </a:br>
                      <a:r>
                        <a:rPr lang="en-US" sz="2100" b="0" i="1" kern="1200">
                          <a:solidFill>
                            <a:schemeClr val="tx1"/>
                          </a:solidFill>
                          <a:effectLst/>
                          <a:latin typeface="+mn-lt"/>
                          <a:ea typeface="+mn-ea"/>
                          <a:cs typeface="+mn-cs"/>
                        </a:rPr>
                        <a:t>Business problem:</a:t>
                      </a:r>
                      <a:r>
                        <a:rPr lang="en-US" sz="2100" b="0" i="0" kern="1200">
                          <a:solidFill>
                            <a:schemeClr val="tx1"/>
                          </a:solidFill>
                          <a:effectLst/>
                          <a:latin typeface="+mn-lt"/>
                          <a:ea typeface="+mn-ea"/>
                          <a:cs typeface="+mn-cs"/>
                        </a:rPr>
                        <a:t> Currently each call is analyzed in isolation. A manager sees one snapshot — is this customer frustrated right now? But the real signal is the trajectory. A customer who was positive three months ago, neutral last month, and negative today is a very different risk profile than a first-time caller who's angry about a one-time billing error.</a:t>
                      </a:r>
                    </a:p>
                    <a:p>
                      <a:r>
                        <a:rPr lang="en-US" sz="2100" b="0" i="1" kern="1200">
                          <a:solidFill>
                            <a:schemeClr val="tx1"/>
                          </a:solidFill>
                          <a:effectLst/>
                          <a:latin typeface="+mn-lt"/>
                          <a:ea typeface="+mn-ea"/>
                          <a:cs typeface="+mn-cs"/>
                        </a:rPr>
                        <a:t>Future implementation:</a:t>
                      </a:r>
                      <a:r>
                        <a:rPr lang="en-US" sz="2100" b="0" i="0" kern="1200">
                          <a:solidFill>
                            <a:schemeClr val="tx1"/>
                          </a:solidFill>
                          <a:effectLst/>
                          <a:latin typeface="+mn-lt"/>
                          <a:ea typeface="+mn-ea"/>
                          <a:cs typeface="+mn-cs"/>
                        </a:rPr>
                        <a:t> When a customer is analyzed, automatically pull all historical transcripts from S3, run sentiment enrichment on each, and present a sentiment timeline. The churn model could incorporate features like "number of calls in last 90 days," "average sentiment trend," and "worst sentiment delta", serving a longitudinal risk model. </a:t>
                      </a:r>
                      <a:endParaRPr lang="en-US" sz="2100" b="0" i="0" kern="1200" dirty="0">
                        <a:solidFill>
                          <a:schemeClr val="tx1"/>
                        </a:solidFill>
                        <a:effectLst/>
                        <a:latin typeface="+mn-lt"/>
                        <a:ea typeface="+mn-ea"/>
                        <a:cs typeface="+mn-cs"/>
                      </a:endParaRPr>
                    </a:p>
                  </a:txBody>
                  <a:tcPr marL="197331" marR="197331" marT="197331" marB="197331"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24109601"/>
                  </a:ext>
                </a:extLst>
              </a:tr>
              <a:tr h="2954982">
                <a:tc>
                  <a:txBody>
                    <a:bodyPr/>
                    <a:lstStyle/>
                    <a:p>
                      <a:pPr algn="ctr">
                        <a:buNone/>
                      </a:pPr>
                      <a:r>
                        <a:rPr lang="en-US" sz="4700" b="1" cap="none" spc="0">
                          <a:solidFill>
                            <a:schemeClr val="tx1"/>
                          </a:solidFill>
                          <a:effectLst/>
                        </a:rPr>
                        <a:t>2</a:t>
                      </a:r>
                    </a:p>
                  </a:txBody>
                  <a:tcPr marL="197331" marR="197331" marT="197331" marB="19733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100" b="1" i="0" kern="1200">
                          <a:solidFill>
                            <a:schemeClr val="tx1"/>
                          </a:solidFill>
                          <a:effectLst/>
                          <a:latin typeface="+mn-lt"/>
                          <a:ea typeface="+mn-ea"/>
                          <a:cs typeface="+mn-cs"/>
                        </a:rPr>
                        <a:t>Persistent Conversation Memory with Semantic Search</a:t>
                      </a:r>
                      <a:br>
                        <a:rPr lang="en-US" sz="2100" b="0" cap="none" spc="0">
                          <a:solidFill>
                            <a:schemeClr val="tx1"/>
                          </a:solidFill>
                        </a:rPr>
                      </a:br>
                      <a:r>
                        <a:rPr lang="en-US" sz="2100" b="0" i="1" cap="none" spc="0">
                          <a:solidFill>
                            <a:schemeClr val="tx1"/>
                          </a:solidFill>
                        </a:rPr>
                        <a:t>Business problem: </a:t>
                      </a:r>
                      <a:r>
                        <a:rPr lang="en-US" sz="2100" b="0" cap="none" spc="0">
                          <a:solidFill>
                            <a:schemeClr val="tx1"/>
                          </a:solidFill>
                        </a:rPr>
                        <a:t>Currently the agent's memory resets when the service restarts. A manager who discussed a customer yesterday has to re-explain the context today. There's also no way to search past conversations — "what did we decide about C00036458 last week?" has no answer.</a:t>
                      </a:r>
                    </a:p>
                    <a:p>
                      <a:pPr algn="l">
                        <a:buNone/>
                      </a:pPr>
                      <a:r>
                        <a:rPr lang="en-US" sz="2100" b="0" i="1" cap="none" spc="0">
                          <a:solidFill>
                            <a:schemeClr val="tx1"/>
                          </a:solidFill>
                        </a:rPr>
                        <a:t>Future implementation: </a:t>
                      </a:r>
                      <a:r>
                        <a:rPr lang="en-US" sz="2100" b="0" cap="none" spc="0">
                          <a:solidFill>
                            <a:schemeClr val="tx1"/>
                          </a:solidFill>
                        </a:rPr>
                        <a:t>Replace MemorySaver (in-memory) with a persistent store like PostgreSQL + pgvector (or a managed service like Amazon MemoryDB). Store conversation history with embeddings so the agent can semantically search past interactions — not just recall the exact thread, but find related discussions. A manager could ask "have we offered loyalty discounts to any Basic_25 customers this quarter?" and get results across all sessions and managers.</a:t>
                      </a:r>
                      <a:endParaRPr lang="en-US" sz="2100" b="0" cap="none" spc="0" dirty="0">
                        <a:solidFill>
                          <a:schemeClr val="tx1"/>
                        </a:solidFill>
                      </a:endParaRPr>
                    </a:p>
                  </a:txBody>
                  <a:tcPr marL="197331" marR="197331" marT="197331" marB="197331"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640804526"/>
                  </a:ext>
                </a:extLst>
              </a:tr>
              <a:tr h="2954982">
                <a:tc>
                  <a:txBody>
                    <a:bodyPr/>
                    <a:lstStyle/>
                    <a:p>
                      <a:pPr algn="ctr">
                        <a:buNone/>
                      </a:pPr>
                      <a:r>
                        <a:rPr lang="en-US" sz="4700" b="1" cap="none" spc="0">
                          <a:solidFill>
                            <a:schemeClr val="tx1"/>
                          </a:solidFill>
                          <a:effectLst/>
                        </a:rPr>
                        <a:t>3</a:t>
                      </a:r>
                    </a:p>
                  </a:txBody>
                  <a:tcPr marL="197331" marR="197331" marT="197331" marB="19733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100" b="1" i="0" kern="1200" dirty="0">
                          <a:solidFill>
                            <a:schemeClr val="tx1"/>
                          </a:solidFill>
                          <a:effectLst/>
                          <a:latin typeface="+mn-lt"/>
                          <a:ea typeface="+mn-ea"/>
                          <a:cs typeface="+mn-cs"/>
                        </a:rPr>
                        <a:t>Retention Action Dashboard &amp; Outcome Tracking</a:t>
                      </a:r>
                      <a:br>
                        <a:rPr lang="en-US" sz="2100" b="1" i="0" kern="1200" dirty="0">
                          <a:solidFill>
                            <a:schemeClr val="tx1"/>
                          </a:solidFill>
                          <a:effectLst/>
                          <a:latin typeface="+mn-lt"/>
                          <a:ea typeface="+mn-ea"/>
                          <a:cs typeface="+mn-cs"/>
                        </a:rPr>
                      </a:br>
                      <a:r>
                        <a:rPr lang="en-US" sz="2100" b="0" i="1" cap="none" spc="0" dirty="0">
                          <a:solidFill>
                            <a:schemeClr val="tx1"/>
                          </a:solidFill>
                        </a:rPr>
                        <a:t>Business problem: </a:t>
                      </a:r>
                      <a:r>
                        <a:rPr lang="en-US" sz="2100" b="0" cap="none" spc="0" dirty="0">
                          <a:solidFill>
                            <a:schemeClr val="tx1"/>
                          </a:solidFill>
                        </a:rPr>
                        <a:t>The current UI shows individual customer analysis. There's no aggregate view — how many high-risk customers exist today? What actions have been recommended this week? Did those actions actually work? Without outcome tracking, the retention engine is a recommendation tool with no feedback loop.</a:t>
                      </a:r>
                      <a:endParaRPr lang="en-US" sz="2100" b="0" i="1" cap="none" spc="0" dirty="0">
                        <a:solidFill>
                          <a:schemeClr val="tx1"/>
                        </a:solidFill>
                      </a:endParaRPr>
                    </a:p>
                    <a:p>
                      <a:pPr algn="l">
                        <a:buNone/>
                      </a:pPr>
                      <a:r>
                        <a:rPr lang="en-US" sz="2100" b="0" i="1" cap="none" spc="0" dirty="0">
                          <a:solidFill>
                            <a:schemeClr val="tx1"/>
                          </a:solidFill>
                        </a:rPr>
                        <a:t>Future implementation: </a:t>
                      </a:r>
                      <a:r>
                        <a:rPr lang="en-US" sz="2100" b="0" cap="none" spc="0" dirty="0">
                          <a:solidFill>
                            <a:schemeClr val="tx1"/>
                          </a:solidFill>
                        </a:rPr>
                        <a:t>Add a Dashboard tab with aggregate metrics: total customers by risk level, recommended actions distribution, trend charts over time. More importantly, add outcome tracking — when a retention action is taken, log it. When the customer's next call comes in, compare sentiment before and after the action. Feed this back into the model as a reinforcement signal. Over time, the system learns which actions actually reduce churn for which customer profiles, rather than relying on static rules.</a:t>
                      </a:r>
                    </a:p>
                  </a:txBody>
                  <a:tcPr marL="197331" marR="197331" marT="197331" marB="197331"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913760758"/>
                  </a:ext>
                </a:extLst>
              </a:tr>
            </a:tbl>
          </a:graphicData>
        </a:graphic>
      </p:graphicFrame>
    </p:spTree>
    <p:extLst>
      <p:ext uri="{BB962C8B-B14F-4D97-AF65-F5344CB8AC3E}">
        <p14:creationId xmlns:p14="http://schemas.microsoft.com/office/powerpoint/2010/main" val="73154337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1135</TotalTime>
  <Words>834</Words>
  <Application>Microsoft Macintosh PowerPoint</Application>
  <PresentationFormat>Custom</PresentationFormat>
  <Paragraphs>120</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Potential Upgrades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Kathleen Hill</dc:creator>
  <cp:lastModifiedBy>Kathleen Hill</cp:lastModifiedBy>
  <cp:revision>3</cp:revision>
  <dcterms:created xsi:type="dcterms:W3CDTF">2026-04-11T18:40:42Z</dcterms:created>
  <dcterms:modified xsi:type="dcterms:W3CDTF">2026-04-15T03:53:20Z</dcterms:modified>
</cp:coreProperties>
</file>