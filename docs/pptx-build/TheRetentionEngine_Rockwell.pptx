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92224"/>
            <a:ext cx="12191695" cy="54864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 i="0">
                <a:solidFill>
                  <a:srgbClr val="F9F5EB"/>
                </a:solidFill>
                <a:latin typeface="Georgia"/>
              </a:defRPr>
            </a:pPr>
            <a:r>
              <a:t>THE RETENTION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C48A2A"/>
                </a:solidFill>
                <a:latin typeface="Georgia"/>
              </a:defRPr>
            </a:pPr>
            <a:r>
              <a:t>An AI-Powered Customer Churn Prediction &amp; Retention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286000"/>
            <a:ext cx="5212080" cy="292608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84448" y="2395728"/>
            <a:ext cx="4992624" cy="270662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5146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Norman Rockwell-style painting: A friendly telephone operator at a switchboard, connecting calls with a warm smile — representing customer connection &amp;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3949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B2A4A"/>
                </a:solidFill>
                <a:latin typeface="Georgia"/>
              </a:defRPr>
            </a:pPr>
            <a:r>
              <a:t>Troy  ·  Kathleen  ·  Okino  ·  George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4A2A"/>
                </a:solidFill>
                <a:latin typeface="Georgia"/>
              </a:defRPr>
            </a:pPr>
            <a:r>
              <a:t>Code Platoon  ·  DevOps &amp; Cloud Engineering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9F5EB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657600" cy="3200400"/>
          </a:xfrm>
          <a:prstGeom prst="rect">
            <a:avLst/>
          </a:prstGeom>
          <a:solidFill>
            <a:srgbClr val="D4C8AE"/>
          </a:solidFill>
          <a:ln w="381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89888"/>
            <a:ext cx="3438144" cy="298094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worried shopkeeper looking at an empty store, a 'Going Out of Business' sign visible — customer loss &amp; churn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80160"/>
            <a:ext cx="7040880" cy="9601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533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1A1A"/>
                </a:solidFill>
                <a:latin typeface="Georgia"/>
              </a:defRPr>
            </a:pPr>
            <a:r>
              <a:t>$1.6 Trillion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lost annually to customer churn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77439"/>
            <a:ext cx="7040880" cy="9601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BF5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50591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BF5B16"/>
                </a:solidFill>
                <a:latin typeface="Georgia"/>
              </a:defRPr>
            </a:pPr>
            <a:r>
              <a:t>5–25× More Expensive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34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to acquire a new customer</a:t>
            </a:r>
            <a:br/>
            <a:r>
              <a:t>than to keep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474720"/>
            <a:ext cx="7040880" cy="9601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547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5A27"/>
                </a:solidFill>
                <a:latin typeface="Georgia"/>
              </a:defRPr>
            </a:pPr>
            <a:r>
              <a:t>67% Preventable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with the right tools</a:t>
            </a:r>
            <a:br/>
            <a:r>
              <a:t>and early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3E281E"/>
                </a:solidFill>
                <a:latin typeface="Georgia"/>
              </a:defRPr>
            </a:pPr>
            <a:r>
              <a:t>Call center managers fly blind — no real-time visibility into which customers are about to leave, no sentiment awareness from support calls, and no AI-driven retention playbook. Decisions are reactive, not predictive.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9F5EB"/>
                </a:solidFill>
                <a:latin typeface="Georgia"/>
              </a:defRPr>
            </a:pPr>
            <a:r>
              <a:t>THE SOLUTION — Manager's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16916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11680" cy="1417320"/>
          </a:xfrm>
          <a:prstGeom prst="rect">
            <a:avLst/>
          </a:prstGeom>
          <a:solidFill>
            <a:srgbClr val="D4C8AE"/>
          </a:solidFill>
          <a:ln w="381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435608"/>
            <a:ext cx="1792224" cy="119786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doctor carefully examining a patient's chart with a magnifying glass — representing careful analysis of customer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8B1A1A"/>
                </a:solidFill>
                <a:latin typeface="Georgia"/>
              </a:defRPr>
            </a:pPr>
            <a: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E281E"/>
                </a:solidFill>
                <a:latin typeface="Georgia"/>
              </a:defRPr>
            </a:pPr>
            <a:r>
              <a:t>Select a customer, optionally paste a call transcript. Get churn risk score, sentiment analysis, and AI-generated retention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39"/>
            <a:ext cx="11064240" cy="16916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399"/>
            <a:ext cx="2011680" cy="141732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310127"/>
            <a:ext cx="1792224" cy="119786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8999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Two colleagues chatting warmly over a desk, one pointing at notes — representing the AI conversation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003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B2A4A"/>
                </a:solidFill>
                <a:latin typeface="Georgia"/>
              </a:defRPr>
            </a:pPr>
            <a:r>
              <a:t>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657599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E281E"/>
                </a:solidFill>
                <a:latin typeface="Georgia"/>
              </a:defRPr>
            </a:pPr>
            <a:r>
              <a:t>Conversational AI powered by Claude Haiku 4.5 via Amazon Bedrock. Ask about any customer, get high-risk reports, or strategize retention.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59"/>
            <a:ext cx="11064240" cy="16916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074919"/>
            <a:ext cx="2011680" cy="1417320"/>
          </a:xfrm>
          <a:prstGeom prst="rect">
            <a:avLst/>
          </a:prstGeom>
          <a:solidFill>
            <a:srgbClr val="D4C8AE"/>
          </a:solidFill>
          <a:ln w="3810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184647"/>
            <a:ext cx="1792224" cy="119786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3519"/>
            <a:ext cx="1554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An old-time stenographer carefully transcribing notes from a phonograph — representing audio-to-text transformation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0749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D5A27"/>
                </a:solidFill>
                <a:latin typeface="Georgia"/>
              </a:defRPr>
            </a:pPr>
            <a:r>
              <a:t>Transcribe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532119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E281E"/>
                </a:solidFill>
                <a:latin typeface="Georgia"/>
              </a:defRPr>
            </a:pPr>
            <a:r>
              <a:t>Upload call audio → Amazon Transcribe with speaker diarization. Automatic sentiment enrichment feeds directly into churn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9F5EB"/>
                </a:solidFill>
                <a:latin typeface="Georgia"/>
              </a:defRPr>
            </a:pPr>
            <a:r>
              <a:t>PLATFORM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1064240" cy="9144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1A1A"/>
                </a:solidFill>
                <a:latin typeface="Georgia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25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React + Vite + Tailwind  ·  3 Tabs: Analyze | Chat | Transcribe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9144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  <a:latin typeface="Georgia"/>
              </a:defRPr>
            </a:pPr>
            <a:r>
              <a:t>Agent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LangGraph Orchestrator  ·  Claude Haiku 4.5  ·  Bedrock Guardrails  ·  5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11064240" cy="9144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5A27"/>
                </a:solidFill>
                <a:latin typeface="Georgia"/>
              </a:defRPr>
            </a:pPr>
            <a:r>
              <a:t>ML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29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Churn Predictor API (:8001)  ·  Sentiment Analysis API (:8002)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79"/>
            <a:ext cx="11064240" cy="9144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48A2A"/>
                </a:solidFill>
                <a:latin typeface="Georgia"/>
              </a:defRPr>
            </a:pPr>
            <a:r>
              <a:t>AWS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805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SageMaker Endpoints (XGBoost + Sentiment)  ·  Bedrock  ·  S3  ·  Transcribe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9144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C3D2E"/>
                </a:solidFill>
                <a:latin typeface="Georgia"/>
              </a:defRPr>
            </a:pPr>
            <a: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Terraform  ·  EKS (Kubernetes)  ·  GitHub Actions CI/CD  ·  GHCR  ·  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057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04A2A"/>
                </a:solidFill>
                <a:latin typeface="Georgia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108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04A2A"/>
                </a:solidFill>
                <a:latin typeface="Georgia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04A2A"/>
                </a:solidFill>
                <a:latin typeface="Georgia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04A2A"/>
                </a:solidFill>
                <a:latin typeface="Georgia"/>
              </a:defRPr>
            </a:pPr>
            <a: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1143000"/>
            <a:ext cx="2926080" cy="219456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6528" y="1252728"/>
            <a:ext cx="2706624" cy="197510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13716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craftsman carefully assembling layers of a wooden cabinet — representing the layered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9F5EB"/>
                </a:solidFill>
                <a:latin typeface="Georgia"/>
              </a:defRPr>
            </a:pPr>
            <a:r>
              <a:t>TECH STACK — Our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53035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B1A1A"/>
                </a:solidFill>
                <a:latin typeface="Georgia"/>
              </a:defRPr>
            </a:pPr>
            <a:r>
              <a:t>ML /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Amazon SageMaker (XGBoost)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Amazon Bedrock (Claude Haiku 4.5)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Bedrock Guardrails (PII, Content)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Amazon Transcribe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LangGraph + LangChain Agents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LangSmith Tracing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53035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B2A4A"/>
                </a:solidFill>
                <a:latin typeface="Georgia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FastAPI (3 microservices)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Python 3.12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boto3 / httpx / pydantic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Docker (multi-stage builds)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S3 data storage (parquet/CSV)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743200" cy="53035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D5A27"/>
                </a:solidFill>
                <a:latin typeface="Georgia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React 18 + TypeScript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Vite + Tailwind CSS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Lucide React Icons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nginx (production)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188720"/>
            <a:ext cx="2743200" cy="53035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325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C48A2A"/>
                </a:solidFill>
                <a:latin typeface="Georgia"/>
              </a:defRPr>
            </a:pPr>
            <a:r>
              <a:t>Infra /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783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1031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Terraform (IaC)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Amazon EKS (Kubernetes)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GitHub Actions (6 workflows)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GHCR (container registry)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Slack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9F5EB"/>
                </a:solidFill>
                <a:latin typeface="Georgia"/>
              </a:defRPr>
            </a:pPr>
            <a: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704A2A"/>
                </a:solidFill>
                <a:latin typeface="Georgia"/>
              </a:defRPr>
            </a:pPr>
            <a:r>
              <a:t>Manager's Command Center  ·  Analyze  ·  Chat  ·  Transcribe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31920" cy="256032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24528" y="4041648"/>
            <a:ext cx="3712464" cy="234086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41605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An excited crowd gathered around a store window display, watching a new product demo — representing the live demonstration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9F5EB"/>
                </a:solidFill>
                <a:latin typeface="Georgia"/>
              </a:defRPr>
            </a:pPr>
            <a:r>
              <a:t>MEET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704A2A"/>
                </a:solidFill>
                <a:latin typeface="Georgia"/>
              </a:defRPr>
            </a:pPr>
            <a:r>
              <a:t>Individual Contributions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31920" cy="256032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24528" y="4041648"/>
            <a:ext cx="3712464" cy="234086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41605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Four craftspeople at a long workbench, each focused on their own specialty but working side by side — representing team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9F5EB"/>
                </a:solidFill>
                <a:latin typeface="Georgia"/>
              </a:defRPr>
            </a:pPr>
            <a:r>
              <a:t>Troy  —  CI/CD &amp; Project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926080" cy="274320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07008"/>
            <a:ext cx="2706624" cy="252374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determined mail carrier delivering packages through rain and snow — representing reliable CI/CD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097280"/>
            <a:ext cx="7863840" cy="27432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  <a:latin typeface="Georgia"/>
              </a:defRPr>
            </a:pPr>
            <a:r>
              <a:t>What I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916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Designed and implemented all 6 GitHub Actions workflows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terraform.yml — plan/apply with environment selection (dev/staging/prod)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sagemaker-deploy.yml — endpoint lifecycle with health polling + inference tests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deploy.yml — matrix Docker build → GHCR → EKS rollout + smoke tests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ci-post-merge.yml — automated 4-job pipeline on merge to main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slack-pr-events.yml — team notifications on PR open/merge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teardown.yml — full infrastructure teardown workflow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Set up GitHub Projects Kanban board for sprint tracking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Branch protection rules and PR review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0352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5A27"/>
                </a:solidFill>
                <a:latin typeface="Georgia"/>
              </a:defRPr>
            </a:pPr>
            <a: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GitHub Actions (YAML, matrix builds)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Docker &amp; GHCR (container registry)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kubectl (EKS rollout management)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Slack Webhooks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GitHub Projects (Kanban)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9496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8A2A"/>
                </a:solidFill>
                <a:latin typeface="Georgia"/>
              </a:defRPr>
            </a:pPr>
            <a:r>
              <a:t>Key Talking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Walk through the CI/CD pipeline diagram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Show the manual dispatch → auto validation flow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Demonstrate Slack notification on PR merge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Explain how post-merge pipeline catches regressions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9F5EB"/>
                </a:solidFill>
                <a:latin typeface="Georgia"/>
              </a:defRPr>
            </a:pPr>
            <a:r>
              <a:t>Kathleen  —  ML Engineering — Churn Prediction &amp;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926080" cy="2743200"/>
          </a:xfrm>
          <a:prstGeom prst="rect">
            <a:avLst/>
          </a:prstGeom>
          <a:solidFill>
            <a:srgbClr val="D4C8AE"/>
          </a:solidFill>
          <a:ln w="381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07008"/>
            <a:ext cx="2706624" cy="252374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scientist peering through a microscope with intense focus, colorful charts on the wall behind — representing data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097280"/>
            <a:ext cx="7863840" cy="27432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1A1A"/>
                </a:solidFill>
                <a:latin typeface="Georgia"/>
              </a:defRPr>
            </a:pPr>
            <a:r>
              <a:t>What I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916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Trained XGBoost churn model v3: 95% accuracy, 0.9861 AUC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Engineered 31 features including 7 cross-model Agent 1 features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Deployed model to SageMaker endpoint (XGBoost container, native format)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Built churn-predictor-api with internal S3 customer data lookup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/predict, /customers, /customer-details, /high-risk endpoints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Co-built LangGraph retention_agent.py with 4-tool orchestration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Designed TriLink product catalog with risk-based retention actions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Output guardrails for agent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Built React + Tailwind frontend (Analyze, Chat, Transcribe tabs)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0352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5A27"/>
                </a:solidFill>
                <a:latin typeface="Georgia"/>
              </a:defRPr>
            </a:pPr>
            <a: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SageMaker (XGBoost, endpoint deployment)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FastAPI + boto3 + pandas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LangGraph + LangChain agents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React 18 + TypeScript + Vite + Tailwind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Docker (multi-stage builds)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9496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8A2A"/>
                </a:solidFill>
                <a:latin typeface="Georgia"/>
              </a:defRPr>
            </a:pPr>
            <a:r>
              <a:t>Key Talking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Walk through churn model training + feature engineering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Show the 31-feature pipeline + Agent 1 enrichment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Demo the /high-risk batch prediction endpoint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Explain the LangGraph agent routing + guardrails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9F5EB"/>
                </a:solidFill>
                <a:latin typeface="Georgia"/>
              </a:defRPr>
            </a:pPr>
            <a:r>
              <a:t>Okino  —  ML Engineering — Sentiment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926080" cy="2743200"/>
          </a:xfrm>
          <a:prstGeom prst="rect">
            <a:avLst/>
          </a:prstGeom>
          <a:solidFill>
            <a:srgbClr val="D4C8AE"/>
          </a:solidFill>
          <a:ln w="3810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07008"/>
            <a:ext cx="2706624" cy="252374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wise judge listening carefully to testimony in a courtroom, weighing emotions and truth — representing sentiment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097280"/>
            <a:ext cx="7863840" cy="27432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5A27"/>
                </a:solidFill>
                <a:latin typeface="Georgia"/>
              </a:defRPr>
            </a:pPr>
            <a:r>
              <a:t>What I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916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Built sentiment-analysis-api with Bedrock-powered analysis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Training notebook for QA/transcript evaluation model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FastAPI wrapper returning qa_score, sentiment, emotion metrics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Designed the 7 Agent 1 features that enrich churn predictions: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  → sentiment, emotion_frustration, emotion_anger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  → sentiment_shift, escalation_flag, resolution_flag, qa_score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Co-built LangGraph agent tool contracts for cross-service calls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Dockerfile + K8s deployment and service manifests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SageMaker endpoint configuration in Terraform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0352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5A27"/>
                </a:solidFill>
                <a:latin typeface="Georgia"/>
              </a:defRPr>
            </a:pPr>
            <a: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SageMaker (model training + endpoints)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Amazon Bedrock (Claude for sentiment)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FastAPI + boto3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Docker + Kubernetes manifests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Terraform (sagemaker.tf)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9496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8A2A"/>
                </a:solidFill>
                <a:latin typeface="Georgia"/>
              </a:defRPr>
            </a:pPr>
            <a:r>
              <a:t>Key Talking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Explain how call transcripts become 7 structured features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Show the sentiment → churn enrichment pipeline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Walk through the /predict response schema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Describe how Agent 1 features improve churn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9F5EB"/>
                </a:solidFill>
                <a:latin typeface="Georgia"/>
              </a:defRPr>
            </a:pPr>
            <a:r>
              <a:t>George  —  Infrastructure &amp; Platform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926080" cy="2743200"/>
          </a:xfrm>
          <a:prstGeom prst="rect">
            <a:avLst/>
          </a:prstGeom>
          <a:solidFill>
            <a:srgbClr val="D4C8AE"/>
          </a:solidFill>
          <a:ln w="3810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07008"/>
            <a:ext cx="2706624" cy="252374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master plumber surrounded by pipes, valves, and blueprints, confidently connecting a complex system — representing infrastructure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097280"/>
            <a:ext cx="7863840" cy="27432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48A2A"/>
                </a:solidFill>
                <a:latin typeface="Georgia"/>
              </a:defRPr>
            </a:pPr>
            <a:r>
              <a:t>What I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916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Authored all Terraform IaC: S3, IAM, SageMaker, EKS, Bedrock, Transcribe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Designed &amp; deployed full Kubernetes architecture (EKS cluster)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All K8s manifests: deployments, services, configmaps, secrets, quotas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Built agent-service: FastAPI + LangGraph /chat with session memory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Integrated Bedrock Guardrails (PII anonymization, content filtering)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docker-compose.yml for full local development stack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Amazon Transcribe pipeline: S3 audio → Lambda → Transcribe → S3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Terraform for Lambda + IAM + S3 event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0352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D5A27"/>
                </a:solidFill>
                <a:latin typeface="Georgia"/>
              </a:defRPr>
            </a:pPr>
            <a: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Terraform (14 config files, multi-resource)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Amazon EKS + kubectl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Kubernetes (namespace, RBAC, resource quotas)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FastAPI + LangGraph + Bedrock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AWS Lambda + Amazon Transcribe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Docker + docker-compose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94960" cy="24688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8A2A"/>
                </a:solidFill>
                <a:latin typeface="Georgia"/>
              </a:defRPr>
            </a:pPr>
            <a:r>
              <a:t>Key Talking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Walk through the Terraform resource graph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Show the K8s namespace layout and service mesh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Explain the dual-LLM guardrail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◈  Demo the Transcribe pipeline: audio → transcript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9F5EB"/>
                </a:solidFill>
                <a:latin typeface="Georgia"/>
              </a:defRPr>
            </a:pPr>
            <a:r>
              <a:t>CI/CD PIPELINE — 6 GitHub Actions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7772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8B1A1A"/>
                </a:solidFill>
                <a:latin typeface="Georgia"/>
              </a:defRPr>
            </a:pPr>
            <a:r>
              <a:t>terraform.yml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5C54"/>
                </a:solidFill>
                <a:latin typeface="Georgia"/>
              </a:defRPr>
            </a:pPr>
            <a:r>
              <a:t>Manual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Terraform plan → apply  (dev/staging/prod)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84832"/>
            <a:ext cx="11064240" cy="7772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579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D5A27"/>
                </a:solidFill>
                <a:latin typeface="Georgia"/>
              </a:defRPr>
            </a:pPr>
            <a:r>
              <a:t>sagemaker-deploy.yml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5C54"/>
                </a:solidFill>
                <a:latin typeface="Georgia"/>
              </a:defRPr>
            </a:pPr>
            <a:r>
              <a:t>Manual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677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Deploy/delete endpoints + health poll + inference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64240" cy="7772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B2A4A"/>
                </a:solidFill>
                <a:latin typeface="Georgia"/>
              </a:defRPr>
            </a:pPr>
            <a:r>
              <a:t>deploy.yml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5C54"/>
                </a:solidFill>
                <a:latin typeface="Georgia"/>
              </a:defRPr>
            </a:pPr>
            <a:r>
              <a:t>Manual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6382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Matrix Docker build → GHCR → EKS rollout + smoke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77056"/>
            <a:ext cx="11064240" cy="7772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C48A2A"/>
                </a:solidFill>
                <a:latin typeface="Georgia"/>
              </a:defRPr>
            </a:pPr>
            <a:r>
              <a:t>ci-post-merge.yml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8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5C54"/>
                </a:solidFill>
                <a:latin typeface="Georgia"/>
              </a:defRPr>
            </a:pPr>
            <a:r>
              <a:t>Push to 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599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Unit tests → Docker → Endpoint health → E2E smoke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73168"/>
            <a:ext cx="11064240" cy="7772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BF5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BF5B16"/>
                </a:solidFill>
                <a:latin typeface="Georgia"/>
              </a:defRPr>
            </a:pPr>
            <a:r>
              <a:t>slack-pr-events.yml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84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5C54"/>
                </a:solidFill>
                <a:latin typeface="Georgia"/>
              </a:defRPr>
            </a:pPr>
            <a:r>
              <a:t>PR open/merge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560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Formatted Slack notifications to team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11064240" cy="7772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42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5C3D2E"/>
                </a:solidFill>
                <a:latin typeface="Georgia"/>
              </a:defRPr>
            </a:pPr>
            <a:r>
              <a:t>teardown.yml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080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45C54"/>
                </a:solidFill>
                <a:latin typeface="Georgia"/>
              </a:defRPr>
            </a:pPr>
            <a:r>
              <a:t>Manual 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852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E281E"/>
                </a:solidFill>
                <a:latin typeface="Georgia"/>
              </a:defRPr>
            </a:pPr>
            <a:r>
              <a:t>Full infrastructure teardown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9F5EB"/>
                </a:solidFill>
                <a:latin typeface="Georgia"/>
              </a:defRPr>
            </a:pPr>
            <a:r>
              <a:t>AGENTIC AI — LangGraph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12344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  <a:latin typeface="Georgia"/>
              </a:defRPr>
            </a:pPr>
            <a:r>
              <a:t>DataGatherer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E281E"/>
                </a:solidFill>
                <a:latin typeface="Georgia"/>
              </a:defRPr>
            </a:pPr>
            <a:r>
              <a:t>Bedrock + Guardrails — Collects customer data, invokes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03520" cy="123444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1A1A"/>
                </a:solidFill>
                <a:latin typeface="Georgia"/>
              </a:defRPr>
            </a:pPr>
            <a:r>
              <a:t>RetentionStrategist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E281E"/>
                </a:solidFill>
                <a:latin typeface="Georgia"/>
              </a:defRPr>
            </a:pPr>
            <a:r>
              <a:t>Clean LLM (no guardrail) — Generates retention offers from risk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26974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5A27"/>
                </a:solidFill>
                <a:latin typeface="Georgia"/>
              </a:defRPr>
            </a:pPr>
            <a:r>
              <a:t>5 Agent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get_customer_details → Churn API /customer-details/{id}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predict_churn → Churn API /predict (31 features → SageMaker)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analyze_call → Sentiment API /predict (transcript → 7 metrics)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get_high_risk_customers → Churn API /high-risk (batch)</a:t>
            </a:r>
          </a:p>
          <a:p>
            <a:pPr>
              <a:spcAft>
                <a:spcPts val="600"/>
              </a:spcAft>
              <a:defRPr sz="1300">
                <a:solidFill>
                  <a:srgbClr val="3E281E"/>
                </a:solidFill>
                <a:latin typeface="Georgia"/>
              </a:defRPr>
            </a:pPr>
            <a:r>
              <a:t>✦  get_transcripts → S3 transcript listing per 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064240" cy="22860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48A2A"/>
                </a:solidFill>
                <a:latin typeface="Georgia"/>
              </a:defRPr>
            </a:pPr>
            <a:r>
              <a:t>Bedrock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E281E"/>
                </a:solidFill>
                <a:latin typeface="Georgia"/>
              </a:defRPr>
            </a:pPr>
            <a:r>
              <a:t>✦  Hate/Sexual content: HIGH filter  ·  Violence: HIGH/MEDIUM  ·  Misconduct: HIGH/LOW</a:t>
            </a:r>
          </a:p>
          <a:p>
            <a:pPr>
              <a:spcAft>
                <a:spcPts val="600"/>
              </a:spcAft>
              <a:defRPr sz="1400">
                <a:solidFill>
                  <a:srgbClr val="3E281E"/>
                </a:solidFill>
                <a:latin typeface="Georgia"/>
              </a:defRPr>
            </a:pPr>
            <a:r>
              <a:t>✦  PII Protection: ANONYMIZE names, emails, phone, SSN  ·  BLOCK credit card, bank account</a:t>
            </a:r>
          </a:p>
          <a:p>
            <a:pPr>
              <a:spcAft>
                <a:spcPts val="600"/>
              </a:spcAft>
              <a:defRPr sz="1400">
                <a:solidFill>
                  <a:srgbClr val="3E281E"/>
                </a:solidFill>
                <a:latin typeface="Georgia"/>
              </a:defRPr>
            </a:pPr>
            <a:r>
              <a:t>✦  Dual-LLM design: DataGatherer uses guardrails; RetentionStrategist uses clean LLM to avoid blocking domain terms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0" cy="0"/>
          </a:xfrm>
          <a:prstGeom prst="rect">
            <a:avLst/>
          </a:prstGeom>
          <a:solidFill>
            <a:srgbClr val="D4C8AE"/>
          </a:solidFill>
          <a:ln w="3810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361688"/>
            <a:ext cx="-219456" cy="-219456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-457200" cy="-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9F5EB"/>
                </a:solidFill>
                <a:latin typeface="Georgia"/>
              </a:defRPr>
            </a:pPr>
            <a:r>
              <a:t>KEY METRICS &amp;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1737360" cy="20116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D5A27"/>
                </a:solidFill>
                <a:latin typeface="Georgia"/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Model</a:t>
            </a:r>
            <a:br/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188720"/>
            <a:ext cx="1737360" cy="20116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1B2A4A"/>
                </a:solidFill>
                <a:latin typeface="Georgia"/>
              </a:defRPr>
            </a:pPr>
            <a:r>
              <a:t>0.986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AUC</a:t>
            </a:r>
            <a:br/>
            <a:r>
              <a:t>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1737360" cy="20116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8B1A1A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Engineered</a:t>
            </a:r>
            <a:br/>
            <a:r>
              <a:t>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88720"/>
            <a:ext cx="1737360" cy="20116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C4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C48A2A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Agent</a:t>
            </a:r>
            <a:br/>
            <a:r>
              <a:t>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1737360" cy="20116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BF5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BF5B16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Micro-</a:t>
            </a:r>
            <a:br/>
            <a:r>
              <a:t>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188720"/>
            <a:ext cx="1737360" cy="20116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7000" y="13716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5C3D2E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5C54"/>
                </a:solidFill>
                <a:latin typeface="Georgia"/>
              </a:defRPr>
            </a:pPr>
            <a:r>
              <a:t>CI/CD</a:t>
            </a:r>
            <a:br/>
            <a:r>
              <a:t>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74720"/>
            <a:ext cx="11430000" cy="301752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  <a:latin typeface="Georgia"/>
              </a:defRPr>
            </a:pPr>
            <a:r>
              <a:t>Platform Highlights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End-to-end ML pipeline: raw data → training → SageMaker → FastAPI wrapper → agent tool → user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Agentic AI with multi-step reasoning: transcript → sentiment → churn enrichment → retention strategy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Full IaC: 14 Terraform files provisioning S3, IAM, SageMaker, EKS, Bedrock, Transcribe, Lambda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Production K8s: namespace isolation, resource quotas, health probes, ConfigMaps, rolling deploys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Amazon Transcribe: audio upload → speaker diarization → structured transcript → S3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9F5EB"/>
                </a:solidFill>
                <a:latin typeface="Georgia"/>
              </a:defRPr>
            </a:pPr>
            <a:r>
              <a:t>LESSONS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36576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1A1A"/>
                </a:solidFill>
                <a:latin typeface="Georgia"/>
              </a:defRPr>
            </a:pPr>
            <a:r>
              <a:t>Technical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Define API contracts early — enabled parallel development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Bedrock Guardrails block domain terms (cancel, churn) — needed dual-LLM workaround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SageMaker cold starts affect initial latency — added health polling in CI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Multi-stage Docker builds cut image sizes significantly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365760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5A27"/>
                </a:solidFill>
                <a:latin typeface="Georgia"/>
              </a:defRPr>
            </a:pPr>
            <a:r>
              <a:t>Process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LangGraph &gt; raw LangChain for multi-step agent workflows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docker-compose essential for local integration testing before K8s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Slack notifications keep the entire team informed on PR flow</a:t>
            </a:r>
          </a:p>
          <a:p>
            <a:pPr>
              <a:spcAft>
                <a:spcPts val="600"/>
              </a:spcAft>
              <a:defRPr sz="1500">
                <a:solidFill>
                  <a:srgbClr val="3E281E"/>
                </a:solidFill>
                <a:latin typeface="Georgia"/>
              </a:defRPr>
            </a:pPr>
            <a:r>
              <a:t>✦  Feature engineering (31 features) matters more than model choice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5029200"/>
            <a:ext cx="5760720" cy="1554480"/>
          </a:xfrm>
          <a:prstGeom prst="rect">
            <a:avLst/>
          </a:prstGeom>
          <a:solidFill>
            <a:srgbClr val="D4C8AE"/>
          </a:solidFill>
          <a:ln w="3810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5138928"/>
            <a:ext cx="5541264" cy="133502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52578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A student at a desk surrounded by open books, having an 'aha!' moment — representing lessons learned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9F5EB"/>
                </a:solidFill>
                <a:latin typeface="Georgia"/>
              </a:defRPr>
            </a:pPr>
            <a:r>
              <a:t>FUTURE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7830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8B1A1A"/>
                </a:solidFill>
                <a:latin typeface="Georgia"/>
              </a:defRPr>
            </a:pPr>
            <a:r>
              <a:t>Historical Sentiment Trending &amp; Cross-Call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8A2A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E281E"/>
                </a:solidFill>
                <a:latin typeface="Georgia"/>
              </a:defRPr>
            </a:pPr>
            <a:r>
              <a:t>Each call is analyzed in isolation — a manager sees one snapshot. But the real signal is the trajectory. A customer trending from positive to negative over three months is a very different risk than a first-time angry caller with a billing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A27"/>
                </a:solidFill>
                <a:latin typeface="Georgia"/>
              </a:defRPr>
            </a:pPr>
            <a:r>
              <a:t>Future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E281E"/>
                </a:solidFill>
                <a:latin typeface="Georgia"/>
              </a:defRPr>
            </a:pPr>
            <a:r>
              <a:t>Auto-pull all historical transcripts from S3, run sentiment enrichment on each, and present a sentiment timeline. Incorporate features like "calls in last 90 days," "average sentiment trend," and "worst sentiment delta" — serving a longitudinal risk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17830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  <a:latin typeface="Georgia"/>
              </a:defRPr>
            </a:pPr>
            <a:r>
              <a:t>Persistent Conversation Memory with Semantic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8A2A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E281E"/>
                </a:solidFill>
                <a:latin typeface="Georgia"/>
              </a:defRPr>
            </a:pPr>
            <a:r>
              <a:t>Agent memory resets on service restart. A manager who discussed a customer yesterday must re-explain context today. No way to search past conversations — "what did we decide about C00036458 last week?" has no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A27"/>
                </a:solidFill>
                <a:latin typeface="Georgia"/>
              </a:defRPr>
            </a:pPr>
            <a:r>
              <a:t>Future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947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E281E"/>
                </a:solidFill>
                <a:latin typeface="Georgia"/>
              </a:defRPr>
            </a:pPr>
            <a:r>
              <a:t>Replace MemorySaver with PostgreSQL + pgvector (or Amazon MemoryDB). Store conversation history with embeddings for semantic search — find related discussions across all sessions. "Have we offered loyalty discounts to any Basic_25 customers this quarter?"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11247120" cy="1783080"/>
          </a:xfrm>
          <a:prstGeom prst="roundRect">
            <a:avLst/>
          </a:prstGeom>
          <a:solidFill>
            <a:srgbClr val="FDF8EE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2D5A27"/>
                </a:solidFill>
                <a:latin typeface="Georgia"/>
              </a:defRPr>
            </a:pPr>
            <a:r>
              <a:t>Retention Action Dashboard &amp; Outcome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8A2A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E281E"/>
                </a:solidFill>
                <a:latin typeface="Georgia"/>
              </a:defRPr>
            </a:pPr>
            <a:r>
              <a:t>No aggregate view — how many high-risk customers exist today? What actions were recommended this week? Did they work? Without outcome tracking, the retention engine is a recommendation tool with no feedback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A27"/>
                </a:solidFill>
                <a:latin typeface="Georgia"/>
              </a:defRPr>
            </a:pPr>
            <a:r>
              <a:t>Future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7150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E281E"/>
                </a:solidFill>
                <a:latin typeface="Georgia"/>
              </a:defRPr>
            </a:pPr>
            <a:r>
              <a:t>Add a Dashboard tab with aggregate metrics: risk distribution, actions taken, trend charts. Log retention actions, compare sentiment before/after. Feed outcomes back as reinforcement — the system learns which actions actually reduce churn for which customer profiles.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9F5EB"/>
                </a:solidFill>
                <a:latin typeface="Georgia"/>
              </a:defRPr>
            </a:pPr>
            <a:r>
              <a:t>HOW WE USED AI  —  4 Key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188720"/>
            <a:ext cx="11155680" cy="1280160"/>
          </a:xfrm>
          <a:prstGeom prst="roundRect">
            <a:avLst/>
          </a:prstGeom>
          <a:solidFill>
            <a:srgbClr val="FDF8EE"/>
          </a:solidFill>
          <a:ln w="1270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8B1A1A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61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8B1A1A"/>
                </a:solidFill>
                <a:latin typeface="Georgia"/>
              </a:defRPr>
            </a:pPr>
            <a:r>
              <a:t>Debugging Complex Systems Was AI's Strongest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E281E"/>
                </a:solidFill>
                <a:latin typeface="Georgia"/>
              </a:defRPr>
            </a:pPr>
            <a:r>
              <a:t>AI was most impactful diagnosing failures across interconnected services — tracing CI/CD workflow failures through CloudWatch logs (Troy), eliminating SageMaker deploy root causes across 5 failed attempts (Kathleen), and separating timeout vs HTTP error handling in LangChain tools (George). AI read logs and proposed targeted fixes faster than manual documentation searches.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73152" cy="128016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2606040"/>
            <a:ext cx="11155680" cy="1280160"/>
          </a:xfrm>
          <a:prstGeom prst="roundRect">
            <a:avLst/>
          </a:prstGeom>
          <a:solidFill>
            <a:srgbClr val="FDF8EE"/>
          </a:solidFill>
          <a:ln w="1270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2D5A27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79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5A27"/>
                </a:solidFill>
                <a:latin typeface="Georgia"/>
              </a:defRPr>
            </a:pPr>
            <a:r>
              <a:t>Human Direction Turned AI Execution Into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E281E"/>
                </a:solidFill>
                <a:latin typeface="Georgia"/>
              </a:defRPr>
            </a:pPr>
            <a:r>
              <a:t>The most impactful moments were when team members redirected AI rather than accepting its first answer. Kathleen's pivot — "evaluate every possible issue with probability of success" — broke a debugging loop and led to the working XGBoost solution. Troy told the AI to "look it up from deploy.py, don't guess" to prevent duplicate $400/mo endpoints. AI executed capably but needed human judgment and domain knowledge.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128016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4023360"/>
            <a:ext cx="11155680" cy="1280160"/>
          </a:xfrm>
          <a:prstGeom prst="roundRect">
            <a:avLst/>
          </a:prstGeom>
          <a:solidFill>
            <a:srgbClr val="FDF8EE"/>
          </a:solidFill>
          <a:ln w="1270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48A2A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965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48A2A"/>
                </a:solidFill>
                <a:latin typeface="Georgia"/>
              </a:defRPr>
            </a:pPr>
            <a:r>
              <a:t>Infrastructure &amp; DevOps Dominated AI Workload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348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E281E"/>
                </a:solidFill>
                <a:latin typeface="Georgia"/>
              </a:defRPr>
            </a:pPr>
            <a:r>
              <a:t>The heaviest AI usage was Terraform definitions, GitHub Actions workflows, SageMaker deployment scripts, K8s health probes, and Docker builds — configuration-heavy work with strict syntax requirements. Troy's 58-task log is essentially CI/CD pipeline implementation. AI handled boilerplate-rich infrastructure well because it could synthesize scattered documentation into working configurations.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73152" cy="1280160"/>
          </a:xfrm>
          <a:prstGeom prst="rect">
            <a:avLst/>
          </a:prstGeom>
          <a:solidFill>
            <a:srgbClr val="BF5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5440680"/>
            <a:ext cx="11155680" cy="1280160"/>
          </a:xfrm>
          <a:prstGeom prst="roundRect">
            <a:avLst/>
          </a:prstGeom>
          <a:solidFill>
            <a:srgbClr val="FDF8EE"/>
          </a:solidFill>
          <a:ln w="12700">
            <a:solidFill>
              <a:srgbClr val="5C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BF5B16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138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BF5B16"/>
                </a:solidFill>
                <a:latin typeface="Georgia"/>
              </a:defRPr>
            </a:pPr>
            <a:r>
              <a:t>AI Enabled Rapid Iteration Across 10+ AWS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8521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E281E"/>
                </a:solidFill>
                <a:latin typeface="Georgia"/>
              </a:defRPr>
            </a:pPr>
            <a:r>
              <a:t>The project spanned SageMaker, EKS, Bedrock, Lambda, Transcribe, S3, IAM, CloudWatch, ECR, and DynamoDB — each with service-specific edge cases. AI synthesized knowledge across these boundaries: kubeconfig ARN quirks breaking CI, GitHub Actions setting missing secrets to empty strings, SageMaker rollbacks silently serving stale models. This cross-service synthesis was a force multiplier.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864"/>
            <a:ext cx="12191695" cy="54864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 i="0">
                <a:solidFill>
                  <a:srgbClr val="F9F5EB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48A2A"/>
                </a:solidFill>
                <a:latin typeface="Georgia"/>
              </a:defRPr>
            </a:pPr>
            <a:r>
              <a:t>THE RETENTION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743200"/>
            <a:ext cx="4480560" cy="2560320"/>
          </a:xfrm>
          <a:prstGeom prst="rect">
            <a:avLst/>
          </a:prstGeom>
          <a:solidFill>
            <a:srgbClr val="D4C8AE"/>
          </a:solidFill>
          <a:ln w="381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50208" y="2852928"/>
            <a:ext cx="4261104" cy="2340864"/>
          </a:xfrm>
          <a:prstGeom prst="rect">
            <a:avLst/>
          </a:prstGeom>
          <a:solidFill>
            <a:srgbClr val="E8DDC8"/>
          </a:solidFill>
          <a:ln w="12700">
            <a:solidFill>
              <a:srgbClr val="A08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297180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04A2A"/>
                </a:solidFill>
                <a:latin typeface="Georgia"/>
              </a:defRPr>
            </a:pPr>
            <a:r>
              <a:t>🖼  Rockwell-style: Four friends gathered around a table, warmly shaking hands after completing a big project — representing team accomplishment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4864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48A2A"/>
                </a:solidFill>
                <a:latin typeface="Georgia"/>
              </a:defRPr>
            </a:pPr>
            <a:r>
              <a:t>— ✦ — ✦ — ✦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B2A4A"/>
                </a:solidFill>
                <a:latin typeface="Georgia"/>
              </a:defRPr>
            </a:pPr>
            <a:r>
              <a:t>Troy  ·  Kathleen  ·  Okino  ·  George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4A2A"/>
                </a:solidFill>
                <a:latin typeface="Georgia"/>
              </a:defRPr>
            </a:pPr>
            <a:r>
              <a:t>github.com/Lumin33r/Capstone-Churn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